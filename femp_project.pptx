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62" r:id="rId4"/>
    <p:sldId id="268" r:id="rId5"/>
    <p:sldId id="318" r:id="rId6"/>
    <p:sldId id="321" r:id="rId7"/>
    <p:sldId id="324" r:id="rId8"/>
    <p:sldId id="325" r:id="rId9"/>
    <p:sldId id="328" r:id="rId10"/>
    <p:sldId id="329" r:id="rId11"/>
    <p:sldId id="330" r:id="rId12"/>
    <p:sldId id="331" r:id="rId13"/>
    <p:sldId id="332" r:id="rId14"/>
    <p:sldId id="333" r:id="rId15"/>
    <p:sldId id="334" r:id="rId16"/>
    <p:sldId id="335" r:id="rId17"/>
    <p:sldId id="336" r:id="rId18"/>
    <p:sldId id="338" r:id="rId19"/>
    <p:sldId id="339" r:id="rId20"/>
    <p:sldId id="340" r:id="rId21"/>
    <p:sldId id="341" r:id="rId22"/>
    <p:sldId id="342" r:id="rId23"/>
    <p:sldId id="343" r:id="rId24"/>
    <p:sldId id="344" r:id="rId25"/>
    <p:sldId id="345" r:id="rId26"/>
    <p:sldId id="346" r:id="rId27"/>
    <p:sldId id="347" r:id="rId28"/>
    <p:sldId id="348" r:id="rId29"/>
    <p:sldId id="349" r:id="rId30"/>
    <p:sldId id="350"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it-IT" smtClean="0"/>
              <a:t>Fare clic per modificare lo stile del titolo</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dirty="0"/>
          </a:p>
        </p:txBody>
      </p:sp>
      <p:sp>
        <p:nvSpPr>
          <p:cNvPr id="3" name="Content Placeholder 2"/>
          <p:cNvSpPr>
            <a:spLocks noGrp="1"/>
          </p:cNvSpPr>
          <p:nvPr>
            <p:ph idx="1"/>
          </p:nvPr>
        </p:nvSpPr>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it-IT" smtClean="0"/>
              <a:t>Fare clic per modificare lo stile del titolo</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Modifica gli stili del testo dello schema</a:t>
            </a:r>
          </a:p>
        </p:txBody>
      </p:sp>
      <p:sp>
        <p:nvSpPr>
          <p:cNvPr id="4" name="Date Placeholder 3"/>
          <p:cNvSpPr>
            <a:spLocks noGrp="1"/>
          </p:cNvSpPr>
          <p:nvPr>
            <p:ph type="dt" sz="half" idx="10"/>
          </p:nvPr>
        </p:nvSpPr>
        <p:spPr/>
        <p:txBody>
          <a:bodyPr/>
          <a:lstStyle/>
          <a:p>
            <a:fld id="{9796027F-7875-4030-9381-8BD8C4F21935}" type="datetimeFigureOut">
              <a:rPr lang="en-US" dirty="0"/>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smtClean="0"/>
              <a:t>Fare clic per modificare lo stile del titolo</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Modifica gli stili del testo dello schema</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Modifica gli stili del testo dello schema</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7/31/2026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7/31/2026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7/31/2026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it-IT" smtClean="0"/>
              <a:t>Fare clic per modificare lo stile del titolo</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Modifica gli stili del testo dello schema</a:t>
            </a:r>
          </a:p>
        </p:txBody>
      </p:sp>
      <p:sp>
        <p:nvSpPr>
          <p:cNvPr id="7" name="Date Placeholder 4"/>
          <p:cNvSpPr>
            <a:spLocks noGrp="1"/>
          </p:cNvSpPr>
          <p:nvPr>
            <p:ph type="dt" sz="half" idx="10"/>
          </p:nvPr>
        </p:nvSpPr>
        <p:spPr/>
        <p:txBody>
          <a:bodyPr/>
          <a:lstStyle/>
          <a:p>
            <a:fld id="{4509A250-FF31-4206-8172-F9D3106AACB1}" type="datetimeFigureOut">
              <a:rPr lang="en-US" dirty="0"/>
              <a:t>7/31/2026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it-IT" smtClean="0"/>
              <a:t>Fare clic per modificare lo stile del titolo</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smtClean="0"/>
              <a:t>Fare clic sull'icona per inserire un'immagine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Modifica gli stili del testo dello schema</a:t>
            </a:r>
          </a:p>
        </p:txBody>
      </p:sp>
      <p:sp>
        <p:nvSpPr>
          <p:cNvPr id="5" name="Date Placeholder 4"/>
          <p:cNvSpPr>
            <a:spLocks noGrp="1"/>
          </p:cNvSpPr>
          <p:nvPr>
            <p:ph type="dt" sz="half" idx="10"/>
          </p:nvPr>
        </p:nvSpPr>
        <p:spPr/>
        <p:txBody>
          <a:bodyPr/>
          <a:lstStyle/>
          <a:p>
            <a:fld id="{4509A250-FF31-4206-8172-F9D3106AACB1}" type="datetimeFigureOut">
              <a:rPr lang="en-US" dirty="0"/>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it-IT" smtClean="0"/>
              <a:t>Fare clic per modificare lo stile del titolo</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smtClean="0"/>
              <a:t>Fare clic sull'icona per inserire un'immagine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Modifica gli stili del testo dello schema</a:t>
            </a:r>
          </a:p>
        </p:txBody>
      </p:sp>
      <p:sp>
        <p:nvSpPr>
          <p:cNvPr id="5" name="Date Placeholder 4"/>
          <p:cNvSpPr>
            <a:spLocks noGrp="1"/>
          </p:cNvSpPr>
          <p:nvPr>
            <p:ph type="dt" sz="half" idx="10"/>
          </p:nvPr>
        </p:nvSpPr>
        <p:spPr/>
        <p:txBody>
          <a:bodyPr/>
          <a:lstStyle/>
          <a:p>
            <a:fld id="{4509A250-FF31-4206-8172-F9D3106AACB1}" type="datetimeFigureOut">
              <a:rPr lang="en-US" dirty="0"/>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it-IT" smtClean="0"/>
              <a:t>Fare clic per modificare lo stile del titolo</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Modifica gli stili del testo dello schema</a:t>
            </a:r>
          </a:p>
        </p:txBody>
      </p:sp>
      <p:sp>
        <p:nvSpPr>
          <p:cNvPr id="4" name="Date Placeholder 3"/>
          <p:cNvSpPr>
            <a:spLocks noGrp="1"/>
          </p:cNvSpPr>
          <p:nvPr>
            <p:ph type="dt" sz="half" idx="10"/>
          </p:nvPr>
        </p:nvSpPr>
        <p:spPr/>
        <p:txBody>
          <a:bodyPr/>
          <a:lstStyle/>
          <a:p>
            <a:fld id="{4509A250-FF31-4206-8172-F9D3106AACB1}" type="datetimeFigureOut">
              <a:rPr lang="en-US" dirty="0"/>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it-IT" smtClean="0"/>
              <a:t>Fare clic per modificare lo stile del titolo</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it-IT" smtClean="0"/>
              <a:t>Modifica gli stili del testo dello schema</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Modifica gli stili del testo dello schema</a:t>
            </a:r>
          </a:p>
        </p:txBody>
      </p:sp>
      <p:sp>
        <p:nvSpPr>
          <p:cNvPr id="4" name="Date Placeholder 3"/>
          <p:cNvSpPr>
            <a:spLocks noGrp="1"/>
          </p:cNvSpPr>
          <p:nvPr>
            <p:ph type="dt" sz="half" idx="10"/>
          </p:nvPr>
        </p:nvSpPr>
        <p:spPr/>
        <p:txBody>
          <a:bodyPr/>
          <a:lstStyle/>
          <a:p>
            <a:fld id="{4509A250-FF31-4206-8172-F9D3106AACB1}" type="datetimeFigureOut">
              <a:rPr lang="en-US" dirty="0"/>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it-IT" smtClean="0"/>
              <a:t>Fare clic per modificare lo stile del titolo</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Modifica gli stili del testo dello schema</a:t>
            </a:r>
          </a:p>
        </p:txBody>
      </p:sp>
      <p:sp>
        <p:nvSpPr>
          <p:cNvPr id="4" name="Date Placeholder 3"/>
          <p:cNvSpPr>
            <a:spLocks noGrp="1"/>
          </p:cNvSpPr>
          <p:nvPr>
            <p:ph type="dt" sz="half" idx="10"/>
          </p:nvPr>
        </p:nvSpPr>
        <p:spPr/>
        <p:txBody>
          <a:bodyPr/>
          <a:lstStyle/>
          <a:p>
            <a:fld id="{4509A250-FF31-4206-8172-F9D3106AACB1}" type="datetimeFigureOut">
              <a:rPr lang="en-US" dirty="0"/>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smtClean="0"/>
              <a:t>Fare clic per modificare lo stile del titolo</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Modifica gli stili del testo dello schema</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Modifica gli stili del testo dello schema</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Modifica gli stili del testo dello schema</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Modifica gli stili del testo dello schema</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Modifica gli stili del testo dello schema</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Modifica gli stili del testo dello schema</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7/31/2026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smtClean="0"/>
              <a:t>Fare clic per modificare lo stile del titolo</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Modifica gli stili del testo dello schema</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smtClean="0"/>
              <a:t>Fare clic sull'icona per inserire un'immagine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Modifica gli stili del testo dello schema</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Modifica gli stili del testo dello schema</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smtClean="0"/>
              <a:t>Fare clic sull'icona per inserire un'immagine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Modifica gli stili del testo dello schema</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Modifica gli stili del testo dello schema</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smtClean="0"/>
              <a:t>Fare clic sull'icona per inserire un'immagine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Modifica gli stili del testo dello schema</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7/31/2026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dirty="0"/>
          </a:p>
        </p:txBody>
      </p:sp>
      <p:sp>
        <p:nvSpPr>
          <p:cNvPr id="3" name="Vertical Text Placeholder 2"/>
          <p:cNvSpPr>
            <a:spLocks noGrp="1"/>
          </p:cNvSpPr>
          <p:nvPr>
            <p:ph type="body" orient="vert" idx="1"/>
          </p:nvPr>
        </p:nvSpPr>
        <p:spPr/>
        <p:txBody>
          <a:bodyPr vert="eaVert" anchor="t" anchorCtr="0"/>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it-IT" smtClean="0"/>
              <a:t>Fare clic per modificare lo stile del titolo</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it-IT" smtClean="0"/>
              <a:t>Fare clic per modificare lo stile del titolo</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7/31/2026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‹N›</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p:txBody>
          <a:bodyPr/>
          <a:lstStyle/>
          <a:p>
            <a:r>
              <a:rPr lang="it-IT" sz="6600" b="1" dirty="0" smtClean="0"/>
              <a:t>The </a:t>
            </a:r>
            <a:r>
              <a:rPr lang="it-IT" sz="6600" b="1" dirty="0" err="1" smtClean="0"/>
              <a:t>Sociology</a:t>
            </a:r>
            <a:r>
              <a:rPr lang="it-IT" sz="6600" b="1" smtClean="0"/>
              <a:t> of Contemporary Analytic Philosophy</a:t>
            </a:r>
            <a:endParaRPr lang="en-GB" sz="6600" b="1"/>
          </a:p>
        </p:txBody>
      </p:sp>
      <p:sp>
        <p:nvSpPr>
          <p:cNvPr id="3" name="Sottotitolo 2"/>
          <p:cNvSpPr>
            <a:spLocks noGrp="1"/>
          </p:cNvSpPr>
          <p:nvPr>
            <p:ph type="subTitle" idx="1"/>
          </p:nvPr>
        </p:nvSpPr>
        <p:spPr/>
        <p:txBody>
          <a:bodyPr/>
          <a:lstStyle/>
          <a:p>
            <a:r>
              <a:rPr lang="it-IT" b="1" smtClean="0"/>
              <a:t>Case study 1</a:t>
            </a:r>
            <a:endParaRPr lang="en-GB" b="1"/>
          </a:p>
        </p:txBody>
      </p:sp>
    </p:spTree>
    <p:extLst>
      <p:ext uri="{BB962C8B-B14F-4D97-AF65-F5344CB8AC3E}">
        <p14:creationId xmlns:p14="http://schemas.microsoft.com/office/powerpoint/2010/main" val="41218549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smtClean="0"/>
              <a:t>INTRODUCTION</a:t>
            </a:r>
            <a:endParaRPr lang="en-GB" b="1"/>
          </a:p>
        </p:txBody>
      </p:sp>
      <p:sp>
        <p:nvSpPr>
          <p:cNvPr id="3" name="Segnaposto contenuto 2"/>
          <p:cNvSpPr>
            <a:spLocks noGrp="1"/>
          </p:cNvSpPr>
          <p:nvPr>
            <p:ph idx="1"/>
          </p:nvPr>
        </p:nvSpPr>
        <p:spPr/>
        <p:txBody>
          <a:bodyPr/>
          <a:lstStyle/>
          <a:p>
            <a:pPr marL="0" indent="0">
              <a:buNone/>
            </a:pPr>
            <a:r>
              <a:rPr lang="it-IT" b="1" smtClean="0"/>
              <a:t>1) Production in analytic philosophy:</a:t>
            </a:r>
          </a:p>
          <a:p>
            <a:pPr marL="0" indent="0">
              <a:buNone/>
            </a:pPr>
            <a:endParaRPr lang="it-IT" smtClean="0"/>
          </a:p>
          <a:p>
            <a:pPr marL="0" indent="0">
              <a:buNone/>
            </a:pPr>
            <a:r>
              <a:rPr lang="it-IT" smtClean="0"/>
              <a:t>1.1) Who are the most productive philosophers?</a:t>
            </a:r>
            <a:endParaRPr lang="it-IT" b="1" smtClean="0"/>
          </a:p>
          <a:p>
            <a:endParaRPr lang="it-IT" b="1"/>
          </a:p>
          <a:p>
            <a:pPr marL="0" indent="0">
              <a:buNone/>
            </a:pPr>
            <a:r>
              <a:rPr lang="it-IT" smtClean="0"/>
              <a:t>1.2) Which are the most productive institutions? And in which countries are they based?</a:t>
            </a:r>
          </a:p>
        </p:txBody>
      </p:sp>
    </p:spTree>
    <p:extLst>
      <p:ext uri="{BB962C8B-B14F-4D97-AF65-F5344CB8AC3E}">
        <p14:creationId xmlns:p14="http://schemas.microsoft.com/office/powerpoint/2010/main" val="14849093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smtClean="0"/>
              <a:t>INTRODUCTION</a:t>
            </a:r>
            <a:endParaRPr lang="en-GB" b="1"/>
          </a:p>
        </p:txBody>
      </p:sp>
      <p:sp>
        <p:nvSpPr>
          <p:cNvPr id="3" name="Segnaposto contenuto 2"/>
          <p:cNvSpPr>
            <a:spLocks noGrp="1"/>
          </p:cNvSpPr>
          <p:nvPr>
            <p:ph idx="1"/>
          </p:nvPr>
        </p:nvSpPr>
        <p:spPr/>
        <p:txBody>
          <a:bodyPr/>
          <a:lstStyle/>
          <a:p>
            <a:pPr marL="0" indent="0">
              <a:buNone/>
            </a:pPr>
            <a:r>
              <a:rPr lang="it-IT" b="1" smtClean="0"/>
              <a:t>2) Informal collaboration in analytic philosophy:</a:t>
            </a:r>
          </a:p>
          <a:p>
            <a:pPr marL="0" indent="0">
              <a:buNone/>
            </a:pPr>
            <a:endParaRPr lang="it-IT" b="1"/>
          </a:p>
          <a:p>
            <a:pPr marL="0" indent="0">
              <a:buNone/>
            </a:pPr>
            <a:r>
              <a:rPr lang="it-IT" smtClean="0"/>
              <a:t>2.1) How </a:t>
            </a:r>
            <a:r>
              <a:rPr lang="it-IT"/>
              <a:t>many informal collaborators does the average analytic philosopher mention?</a:t>
            </a:r>
            <a:endParaRPr lang="en-GB"/>
          </a:p>
          <a:p>
            <a:pPr marL="0" indent="0">
              <a:buNone/>
            </a:pPr>
            <a:endParaRPr lang="it-IT"/>
          </a:p>
          <a:p>
            <a:pPr marL="0" indent="0">
              <a:buNone/>
            </a:pPr>
            <a:r>
              <a:rPr lang="it-IT" smtClean="0"/>
              <a:t>2.2) </a:t>
            </a:r>
            <a:r>
              <a:rPr lang="it-IT"/>
              <a:t>Is informal collaboration common in analytic philosophy?</a:t>
            </a:r>
          </a:p>
          <a:p>
            <a:pPr marL="0" indent="0">
              <a:buNone/>
            </a:pPr>
            <a:endParaRPr lang="it-IT" b="1" smtClean="0"/>
          </a:p>
          <a:p>
            <a:pPr marL="0" indent="0">
              <a:buNone/>
            </a:pPr>
            <a:endParaRPr lang="it-IT" b="1"/>
          </a:p>
        </p:txBody>
      </p:sp>
    </p:spTree>
    <p:extLst>
      <p:ext uri="{BB962C8B-B14F-4D97-AF65-F5344CB8AC3E}">
        <p14:creationId xmlns:p14="http://schemas.microsoft.com/office/powerpoint/2010/main" val="14424811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smtClean="0"/>
              <a:t>INTRODUCTION</a:t>
            </a:r>
            <a:endParaRPr lang="en-GB" b="1"/>
          </a:p>
        </p:txBody>
      </p:sp>
      <p:sp>
        <p:nvSpPr>
          <p:cNvPr id="3" name="Segnaposto contenuto 2"/>
          <p:cNvSpPr>
            <a:spLocks noGrp="1"/>
          </p:cNvSpPr>
          <p:nvPr>
            <p:ph idx="1"/>
          </p:nvPr>
        </p:nvSpPr>
        <p:spPr/>
        <p:txBody>
          <a:bodyPr/>
          <a:lstStyle/>
          <a:p>
            <a:pPr marL="0" indent="0">
              <a:buNone/>
            </a:pPr>
            <a:r>
              <a:rPr lang="it-IT" b="1" smtClean="0"/>
              <a:t>3) Prestige in the analytic philosophy community:</a:t>
            </a:r>
          </a:p>
          <a:p>
            <a:pPr marL="0" indent="0">
              <a:buNone/>
            </a:pPr>
            <a:endParaRPr lang="it-IT" b="1"/>
          </a:p>
          <a:p>
            <a:pPr marL="0" indent="0">
              <a:buNone/>
            </a:pPr>
            <a:r>
              <a:rPr lang="it-IT" smtClean="0"/>
              <a:t>3.1) Who are the most mentioned philosophers?</a:t>
            </a:r>
          </a:p>
          <a:p>
            <a:pPr marL="0" indent="0">
              <a:buNone/>
            </a:pPr>
            <a:r>
              <a:rPr lang="it-IT" smtClean="0"/>
              <a:t>3.2) Who are the most mentioned philosophers within the various sub-areas of analytic philosophy?</a:t>
            </a:r>
          </a:p>
          <a:p>
            <a:pPr marL="0" indent="0">
              <a:buNone/>
            </a:pPr>
            <a:r>
              <a:rPr lang="it-IT" smtClean="0"/>
              <a:t>3.3) How </a:t>
            </a:r>
            <a:r>
              <a:rPr lang="it-IT"/>
              <a:t>are mentions distributed among the members of the community?</a:t>
            </a:r>
          </a:p>
          <a:p>
            <a:pPr marL="0" indent="0">
              <a:buNone/>
            </a:pPr>
            <a:r>
              <a:rPr lang="it-IT" smtClean="0"/>
              <a:t>3.4) Are mentions correlated with other indicators of prestige (e.g. number of citations or number of published articles)?</a:t>
            </a:r>
          </a:p>
          <a:p>
            <a:pPr marL="0" indent="0">
              <a:buNone/>
            </a:pPr>
            <a:r>
              <a:rPr lang="it-IT" smtClean="0"/>
              <a:t>3.5) Does gender affect the chances of accumulating mentions?</a:t>
            </a:r>
            <a:endParaRPr lang="en-GB"/>
          </a:p>
        </p:txBody>
      </p:sp>
    </p:spTree>
    <p:extLst>
      <p:ext uri="{BB962C8B-B14F-4D97-AF65-F5344CB8AC3E}">
        <p14:creationId xmlns:p14="http://schemas.microsoft.com/office/powerpoint/2010/main" val="38380712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smtClean="0"/>
              <a:t>METHODOLOGY:</a:t>
            </a:r>
            <a:br>
              <a:rPr lang="it-IT" b="1" smtClean="0"/>
            </a:br>
            <a:r>
              <a:rPr lang="it-IT" b="1" smtClean="0"/>
              <a:t>1. Production in Analytic Philosophy</a:t>
            </a:r>
            <a:endParaRPr lang="en-GB" b="1"/>
          </a:p>
        </p:txBody>
      </p:sp>
      <p:sp>
        <p:nvSpPr>
          <p:cNvPr id="3" name="Segnaposto contenuto 2"/>
          <p:cNvSpPr>
            <a:spLocks noGrp="1"/>
          </p:cNvSpPr>
          <p:nvPr>
            <p:ph idx="1"/>
          </p:nvPr>
        </p:nvSpPr>
        <p:spPr/>
        <p:txBody>
          <a:bodyPr/>
          <a:lstStyle/>
          <a:p>
            <a:pPr marL="0" indent="0">
              <a:buNone/>
            </a:pPr>
            <a:r>
              <a:rPr lang="it-IT" b="1" smtClean="0"/>
              <a:t>1.1) Who are the most productive philosophers?</a:t>
            </a:r>
          </a:p>
          <a:p>
            <a:pPr marL="457200" indent="-457200" algn="just">
              <a:buFont typeface="+mj-lt"/>
              <a:buAutoNum type="alphaLcParenR"/>
            </a:pPr>
            <a:r>
              <a:rPr lang="it-IT" b="1" smtClean="0"/>
              <a:t>Interpretation: </a:t>
            </a:r>
            <a:r>
              <a:rPr lang="it-IT"/>
              <a:t>productivity as </a:t>
            </a:r>
            <a:r>
              <a:rPr lang="en-GB"/>
              <a:t>the number of distinct articles a philosopher authored within this </a:t>
            </a:r>
            <a:r>
              <a:rPr lang="en-GB" smtClean="0"/>
              <a:t>database. Computed </a:t>
            </a:r>
            <a:r>
              <a:rPr lang="en-GB"/>
              <a:t>by joining Authorships_df and Philosophers_df on Phi_ID</a:t>
            </a:r>
            <a:r>
              <a:rPr lang="en-GB" smtClean="0"/>
              <a:t>.</a:t>
            </a:r>
          </a:p>
          <a:p>
            <a:pPr marL="457200" indent="-457200" algn="just">
              <a:buFont typeface="+mj-lt"/>
              <a:buAutoNum type="alphaLcParenR"/>
            </a:pPr>
            <a:endParaRPr lang="en-GB"/>
          </a:p>
          <a:p>
            <a:pPr marL="457200" indent="-457200" algn="just">
              <a:buFont typeface="+mj-lt"/>
              <a:buAutoNum type="alphaLcParenR"/>
            </a:pPr>
            <a:r>
              <a:rPr lang="it-IT" b="1" smtClean="0"/>
              <a:t>Data quality: </a:t>
            </a:r>
            <a:r>
              <a:rPr lang="en-GB" smtClean="0"/>
              <a:t>No </a:t>
            </a:r>
            <a:r>
              <a:rPr lang="en-GB"/>
              <a:t>missing identifiers, no duplicate authorship records. </a:t>
            </a:r>
          </a:p>
          <a:p>
            <a:pPr marL="457200" indent="-457200" algn="just">
              <a:buFont typeface="+mj-lt"/>
              <a:buAutoNum type="alphaLcParenR"/>
            </a:pPr>
            <a:endParaRPr lang="en-GB" b="1"/>
          </a:p>
          <a:p>
            <a:pPr marL="457200" indent="-457200" algn="just">
              <a:buFont typeface="+mj-lt"/>
              <a:buAutoNum type="alphaLcParenR"/>
            </a:pPr>
            <a:r>
              <a:rPr lang="it-IT" b="1" smtClean="0"/>
              <a:t>Analysis</a:t>
            </a:r>
            <a:r>
              <a:rPr lang="it-IT" b="1"/>
              <a:t>: </a:t>
            </a:r>
            <a:r>
              <a:rPr lang="it-IT" smtClean="0"/>
              <a:t>Identification of the 10 most productive philosophers (ties included).</a:t>
            </a:r>
            <a:endParaRPr lang="it-IT" b="1"/>
          </a:p>
          <a:p>
            <a:pPr marL="457200" indent="-457200" algn="just">
              <a:buFont typeface="+mj-lt"/>
              <a:buAutoNum type="alphaLcParenR"/>
            </a:pPr>
            <a:endParaRPr lang="it-IT" b="1" smtClean="0"/>
          </a:p>
          <a:p>
            <a:pPr marL="0" indent="0">
              <a:buNone/>
            </a:pPr>
            <a:endParaRPr lang="en-GB" b="1"/>
          </a:p>
        </p:txBody>
      </p:sp>
    </p:spTree>
    <p:extLst>
      <p:ext uri="{BB962C8B-B14F-4D97-AF65-F5344CB8AC3E}">
        <p14:creationId xmlns:p14="http://schemas.microsoft.com/office/powerpoint/2010/main" val="33719445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a:t>METHODOLOGY:</a:t>
            </a:r>
            <a:br>
              <a:rPr lang="it-IT" b="1"/>
            </a:br>
            <a:r>
              <a:rPr lang="it-IT" b="1"/>
              <a:t>1. Production in Analytic Philosophy</a:t>
            </a:r>
            <a:endParaRPr lang="en-GB"/>
          </a:p>
        </p:txBody>
      </p:sp>
      <p:sp>
        <p:nvSpPr>
          <p:cNvPr id="3" name="Segnaposto contenuto 2"/>
          <p:cNvSpPr>
            <a:spLocks noGrp="1"/>
          </p:cNvSpPr>
          <p:nvPr>
            <p:ph idx="1"/>
          </p:nvPr>
        </p:nvSpPr>
        <p:spPr>
          <a:xfrm>
            <a:off x="1103312" y="2052918"/>
            <a:ext cx="9795597" cy="4523373"/>
          </a:xfrm>
        </p:spPr>
        <p:txBody>
          <a:bodyPr/>
          <a:lstStyle/>
          <a:p>
            <a:pPr marL="0" indent="0">
              <a:buNone/>
            </a:pPr>
            <a:r>
              <a:rPr lang="it-IT" b="1" smtClean="0"/>
              <a:t>1.2) </a:t>
            </a:r>
            <a:r>
              <a:rPr lang="it-IT" b="1"/>
              <a:t>Which are the most productive institutions</a:t>
            </a:r>
            <a:r>
              <a:rPr lang="it-IT" b="1" smtClean="0"/>
              <a:t>? </a:t>
            </a:r>
            <a:r>
              <a:rPr lang="it-IT" b="1"/>
              <a:t>And in which countries are they based</a:t>
            </a:r>
            <a:r>
              <a:rPr lang="it-IT" b="1" smtClean="0"/>
              <a:t>?</a:t>
            </a:r>
          </a:p>
          <a:p>
            <a:pPr marL="457200" indent="-457200">
              <a:buFont typeface="+mj-lt"/>
              <a:buAutoNum type="alphaLcParenR"/>
            </a:pPr>
            <a:r>
              <a:rPr lang="it-IT" b="1" smtClean="0"/>
              <a:t>Interpretation: </a:t>
            </a:r>
            <a:r>
              <a:rPr lang="en-GB"/>
              <a:t>productivity as the number of distinct articles associated with each institution, computed by joining Authorships_df and Affiliations_df on Inst_ID. This measure is not mutually exclusive across institutions</a:t>
            </a:r>
            <a:r>
              <a:rPr lang="en-GB" smtClean="0"/>
              <a:t>.</a:t>
            </a:r>
          </a:p>
          <a:p>
            <a:pPr marL="457200" indent="-457200">
              <a:buFont typeface="+mj-lt"/>
              <a:buAutoNum type="alphaLcParenR"/>
            </a:pPr>
            <a:r>
              <a:rPr lang="it-IT" b="1"/>
              <a:t>Data quality: </a:t>
            </a:r>
            <a:r>
              <a:rPr lang="it-IT"/>
              <a:t>I </a:t>
            </a:r>
            <a:r>
              <a:rPr lang="en-GB"/>
              <a:t>checked for missing institutional affiliations in the authorship records (1.4%). Rows with missing Inst_ID were excluded from the analysis.</a:t>
            </a:r>
            <a:endParaRPr lang="en-GB" b="1"/>
          </a:p>
          <a:p>
            <a:pPr marL="457200" indent="-457200">
              <a:buFont typeface="+mj-lt"/>
              <a:buAutoNum type="alphaLcParenR"/>
            </a:pPr>
            <a:r>
              <a:rPr lang="it-IT" b="1"/>
              <a:t>Analysis: </a:t>
            </a:r>
            <a:r>
              <a:rPr lang="en-GB"/>
              <a:t>For each institution, I counted the number of distinct articles associated with it, then identified the ten most productive </a:t>
            </a:r>
            <a:r>
              <a:rPr lang="en-GB" smtClean="0"/>
              <a:t>institutions and their geography, </a:t>
            </a:r>
            <a:r>
              <a:rPr lang="en-GB"/>
              <a:t>accounting also for ties.</a:t>
            </a:r>
            <a:endParaRPr lang="it-IT" b="1"/>
          </a:p>
          <a:p>
            <a:pPr marL="457200" indent="-457200">
              <a:buFont typeface="+mj-lt"/>
              <a:buAutoNum type="alphaLcParenR"/>
            </a:pPr>
            <a:endParaRPr lang="en-GB"/>
          </a:p>
          <a:p>
            <a:pPr marL="457200" indent="-457200">
              <a:buFont typeface="+mj-lt"/>
              <a:buAutoNum type="alphaLcParenR"/>
            </a:pPr>
            <a:endParaRPr lang="it-IT" b="1"/>
          </a:p>
          <a:p>
            <a:pPr marL="0" indent="0">
              <a:buNone/>
            </a:pPr>
            <a:endParaRPr lang="en-GB" b="1"/>
          </a:p>
        </p:txBody>
      </p:sp>
    </p:spTree>
    <p:extLst>
      <p:ext uri="{BB962C8B-B14F-4D97-AF65-F5344CB8AC3E}">
        <p14:creationId xmlns:p14="http://schemas.microsoft.com/office/powerpoint/2010/main" val="42227007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46111" y="452718"/>
            <a:ext cx="9403742" cy="1400530"/>
          </a:xfrm>
        </p:spPr>
        <p:txBody>
          <a:bodyPr/>
          <a:lstStyle/>
          <a:p>
            <a:r>
              <a:rPr lang="it-IT" b="1" smtClean="0"/>
              <a:t>METHODOLOGY:</a:t>
            </a:r>
            <a:br>
              <a:rPr lang="it-IT" b="1" smtClean="0"/>
            </a:br>
            <a:r>
              <a:rPr lang="it-IT" b="1" smtClean="0"/>
              <a:t>2. </a:t>
            </a:r>
            <a:r>
              <a:rPr lang="it-IT" b="1"/>
              <a:t>Informal </a:t>
            </a:r>
            <a:r>
              <a:rPr lang="it-IT" b="1" smtClean="0"/>
              <a:t>Collaboration</a:t>
            </a:r>
            <a:endParaRPr lang="en-GB" b="1"/>
          </a:p>
        </p:txBody>
      </p:sp>
      <p:sp>
        <p:nvSpPr>
          <p:cNvPr id="3" name="Segnaposto contenuto 2"/>
          <p:cNvSpPr>
            <a:spLocks noGrp="1"/>
          </p:cNvSpPr>
          <p:nvPr>
            <p:ph idx="1"/>
          </p:nvPr>
        </p:nvSpPr>
        <p:spPr>
          <a:xfrm>
            <a:off x="1103312" y="1853248"/>
            <a:ext cx="10322070" cy="4824643"/>
          </a:xfrm>
        </p:spPr>
        <p:txBody>
          <a:bodyPr/>
          <a:lstStyle/>
          <a:p>
            <a:pPr marL="0" indent="0">
              <a:buNone/>
            </a:pPr>
            <a:r>
              <a:rPr lang="it-IT" b="1" smtClean="0"/>
              <a:t>2.1) </a:t>
            </a:r>
            <a:r>
              <a:rPr lang="it-IT" b="1"/>
              <a:t>How many informal collaborators does the average analytic philosopher mention</a:t>
            </a:r>
            <a:r>
              <a:rPr lang="it-IT" b="1" smtClean="0"/>
              <a:t>?</a:t>
            </a:r>
          </a:p>
          <a:p>
            <a:pPr marL="457200" indent="-457200">
              <a:buFont typeface="+mj-lt"/>
              <a:buAutoNum type="alphaLcParenR"/>
            </a:pPr>
            <a:r>
              <a:rPr lang="it-IT" b="1"/>
              <a:t>Interpretation: </a:t>
            </a:r>
            <a:r>
              <a:rPr lang="en-GB"/>
              <a:t>informal collaborators as distinct acknowledgees per article. Two interpretations proposed: (1) philosopher-level — averaged </a:t>
            </a:r>
            <a:r>
              <a:rPr lang="en-GB" smtClean="0"/>
              <a:t>within each philosopher </a:t>
            </a:r>
            <a:r>
              <a:rPr lang="en-GB"/>
              <a:t>first, then across philosophers (via Authorships_df), avoiding overweighting prolific authors; (2) article-level — averaged directly over </a:t>
            </a:r>
            <a:r>
              <a:rPr lang="en-GB" smtClean="0"/>
              <a:t>articles. </a:t>
            </a:r>
          </a:p>
          <a:p>
            <a:pPr marL="457200" indent="-457200">
              <a:buFont typeface="+mj-lt"/>
              <a:buAutoNum type="alphaLcParenR"/>
            </a:pPr>
            <a:r>
              <a:rPr lang="en-GB" b="1"/>
              <a:t>Data quality: </a:t>
            </a:r>
            <a:r>
              <a:rPr lang="en-GB"/>
              <a:t>128 of 2,075 articles have no acknowledgments section (excluded); 103 have a section but name no philosopher (included and coded as 0</a:t>
            </a:r>
            <a:r>
              <a:rPr lang="en-GB" smtClean="0"/>
              <a:t>).</a:t>
            </a:r>
          </a:p>
          <a:p>
            <a:pPr marL="457200" indent="-457200">
              <a:buFont typeface="+mj-lt"/>
              <a:buAutoNum type="alphaLcParenR"/>
            </a:pPr>
            <a:r>
              <a:rPr lang="it-IT" b="1"/>
              <a:t>Analysis: </a:t>
            </a:r>
            <a:r>
              <a:rPr lang="en-GB"/>
              <a:t>for each article with acknowledgments section, I counted its distinct </a:t>
            </a:r>
            <a:r>
              <a:rPr lang="en-GB" smtClean="0"/>
              <a:t>acknowledgees </a:t>
            </a:r>
            <a:r>
              <a:rPr lang="en-GB"/>
              <a:t>with respect to the two units of analysis discussed above (philosophers and articles).  I also report the mean, median, and mode for each version.</a:t>
            </a:r>
            <a:endParaRPr lang="en-GB" b="1"/>
          </a:p>
          <a:p>
            <a:pPr marL="457200" indent="-457200">
              <a:buFont typeface="+mj-lt"/>
              <a:buAutoNum type="alphaLcParenR"/>
            </a:pPr>
            <a:endParaRPr lang="en-GB"/>
          </a:p>
          <a:p>
            <a:pPr marL="457200" indent="-457200">
              <a:buFont typeface="+mj-lt"/>
              <a:buAutoNum type="alphaLcParenR"/>
            </a:pPr>
            <a:endParaRPr lang="en-GB"/>
          </a:p>
          <a:p>
            <a:pPr marL="457200" indent="-457200">
              <a:buFont typeface="+mj-lt"/>
              <a:buAutoNum type="alphaLcParenR"/>
            </a:pPr>
            <a:endParaRPr lang="it-IT" b="1" smtClean="0"/>
          </a:p>
          <a:p>
            <a:pPr marL="0" indent="0">
              <a:buNone/>
            </a:pPr>
            <a:endParaRPr lang="en-GB" b="1"/>
          </a:p>
        </p:txBody>
      </p:sp>
    </p:spTree>
    <p:extLst>
      <p:ext uri="{BB962C8B-B14F-4D97-AF65-F5344CB8AC3E}">
        <p14:creationId xmlns:p14="http://schemas.microsoft.com/office/powerpoint/2010/main" val="23861027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a:t>METHODOLOGY:</a:t>
            </a:r>
            <a:br>
              <a:rPr lang="it-IT" b="1"/>
            </a:br>
            <a:r>
              <a:rPr lang="it-IT" b="1"/>
              <a:t>2. Informal Collaboration</a:t>
            </a:r>
            <a:endParaRPr lang="en-GB"/>
          </a:p>
        </p:txBody>
      </p:sp>
      <p:sp>
        <p:nvSpPr>
          <p:cNvPr id="3" name="Segnaposto contenuto 2"/>
          <p:cNvSpPr>
            <a:spLocks noGrp="1"/>
          </p:cNvSpPr>
          <p:nvPr>
            <p:ph idx="1"/>
          </p:nvPr>
        </p:nvSpPr>
        <p:spPr/>
        <p:txBody>
          <a:bodyPr/>
          <a:lstStyle/>
          <a:p>
            <a:pPr marL="0" indent="0">
              <a:buNone/>
            </a:pPr>
            <a:r>
              <a:rPr lang="it-IT" b="1" smtClean="0"/>
              <a:t>2.2) Is informal collaboration common in analytic philosophy?</a:t>
            </a:r>
          </a:p>
          <a:p>
            <a:pPr marL="457200" indent="-457200">
              <a:buFont typeface="+mj-lt"/>
              <a:buAutoNum type="alphaLcParenR"/>
            </a:pPr>
            <a:r>
              <a:rPr lang="it-IT" b="1" smtClean="0"/>
              <a:t>Interpretation: </a:t>
            </a:r>
            <a:r>
              <a:rPr lang="en-GB" smtClean="0"/>
              <a:t>prevalence </a:t>
            </a:r>
            <a:r>
              <a:rPr lang="en-GB"/>
              <a:t>as the proportion of articles and philosophers with at least one informal </a:t>
            </a:r>
            <a:r>
              <a:rPr lang="en-GB" smtClean="0"/>
              <a:t>collaborator. </a:t>
            </a:r>
            <a:r>
              <a:rPr lang="en-GB"/>
              <a:t>Both levels are reported, since they capture different aspects of "commonness</a:t>
            </a:r>
            <a:r>
              <a:rPr lang="en-GB" smtClean="0"/>
              <a:t>.“</a:t>
            </a:r>
            <a:endParaRPr lang="it-IT" b="1"/>
          </a:p>
          <a:p>
            <a:pPr marL="457200" indent="-457200">
              <a:buFont typeface="+mj-lt"/>
              <a:buAutoNum type="alphaLcParenR"/>
            </a:pPr>
            <a:r>
              <a:rPr lang="en-GB" b="1" smtClean="0"/>
              <a:t>Data quality: </a:t>
            </a:r>
            <a:r>
              <a:rPr lang="en-GB" smtClean="0"/>
              <a:t>I reuse the </a:t>
            </a:r>
            <a:r>
              <a:rPr lang="en-GB"/>
              <a:t>cleaned data from </a:t>
            </a:r>
            <a:r>
              <a:rPr lang="en-GB" smtClean="0"/>
              <a:t>2.1.</a:t>
            </a:r>
          </a:p>
          <a:p>
            <a:pPr marL="457200" indent="-457200">
              <a:buFont typeface="+mj-lt"/>
              <a:buAutoNum type="alphaLcParenR"/>
            </a:pPr>
            <a:r>
              <a:rPr lang="it-IT" b="1" smtClean="0"/>
              <a:t>Analysis</a:t>
            </a:r>
            <a:r>
              <a:rPr lang="it-IT" b="1"/>
              <a:t>: </a:t>
            </a:r>
            <a:r>
              <a:rPr lang="en-GB"/>
              <a:t>I computed the share of articles with at least one acknowledgee, out of those with an observable acknowledgments section, and the share of philosophers with at least one such article among their own work.</a:t>
            </a:r>
            <a:endParaRPr lang="it-IT" b="1"/>
          </a:p>
          <a:p>
            <a:pPr marL="457200" indent="-457200">
              <a:buFont typeface="+mj-lt"/>
              <a:buAutoNum type="alphaLcParenR"/>
            </a:pPr>
            <a:endParaRPr lang="en-GB" b="1"/>
          </a:p>
        </p:txBody>
      </p:sp>
    </p:spTree>
    <p:extLst>
      <p:ext uri="{BB962C8B-B14F-4D97-AF65-F5344CB8AC3E}">
        <p14:creationId xmlns:p14="http://schemas.microsoft.com/office/powerpoint/2010/main" val="7386042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smtClean="0"/>
              <a:t>METHODOLOGY:</a:t>
            </a:r>
            <a:br>
              <a:rPr lang="it-IT" b="1" smtClean="0"/>
            </a:br>
            <a:r>
              <a:rPr lang="it-IT" b="1" smtClean="0"/>
              <a:t>3. Prestige</a:t>
            </a:r>
            <a:endParaRPr lang="en-GB" b="1"/>
          </a:p>
        </p:txBody>
      </p:sp>
      <p:sp>
        <p:nvSpPr>
          <p:cNvPr id="3" name="Segnaposto contenuto 2"/>
          <p:cNvSpPr>
            <a:spLocks noGrp="1"/>
          </p:cNvSpPr>
          <p:nvPr>
            <p:ph idx="1"/>
          </p:nvPr>
        </p:nvSpPr>
        <p:spPr>
          <a:xfrm>
            <a:off x="1103312" y="1853248"/>
            <a:ext cx="10728470" cy="4843116"/>
          </a:xfrm>
        </p:spPr>
        <p:txBody>
          <a:bodyPr/>
          <a:lstStyle/>
          <a:p>
            <a:pPr marL="0" indent="0">
              <a:buNone/>
            </a:pPr>
            <a:r>
              <a:rPr lang="it-IT" b="1" smtClean="0"/>
              <a:t>3.1) </a:t>
            </a:r>
            <a:r>
              <a:rPr lang="it-IT" b="1"/>
              <a:t>Who are the most mentioned philosophers?</a:t>
            </a:r>
          </a:p>
          <a:p>
            <a:pPr marL="457200" indent="-457200">
              <a:buFont typeface="+mj-lt"/>
              <a:buAutoNum type="alphaLcParenR"/>
            </a:pPr>
            <a:r>
              <a:rPr lang="it-IT" b="1"/>
              <a:t>Interpretation: </a:t>
            </a:r>
            <a:r>
              <a:rPr lang="en-GB"/>
              <a:t>"most mentioned" as the number of distinct articles in which a philosopher is named in the acknowledgments section. Acknowledgments_df is used to identify which philosophers are mentioned in which articles and Philosophers_df to retrieve full names. </a:t>
            </a:r>
            <a:endParaRPr lang="en-GB" smtClean="0"/>
          </a:p>
          <a:p>
            <a:pPr marL="457200" indent="-457200">
              <a:buFont typeface="+mj-lt"/>
              <a:buAutoNum type="alphaLcParenR"/>
            </a:pPr>
            <a:r>
              <a:rPr lang="en-GB" b="1"/>
              <a:t>Data quality: </a:t>
            </a:r>
            <a:r>
              <a:rPr lang="en-GB"/>
              <a:t>I de-duplicated on Art_ID - Phi_ID before counting, since Acknowledgments_df contains 144 rows where the same philosopher is named more than once within a single article's acknowledgments</a:t>
            </a:r>
            <a:r>
              <a:rPr lang="en-GB" smtClean="0"/>
              <a:t>.</a:t>
            </a:r>
          </a:p>
          <a:p>
            <a:pPr marL="457200" indent="-457200">
              <a:buFont typeface="+mj-lt"/>
              <a:buAutoNum type="alphaLcParenR"/>
            </a:pPr>
            <a:r>
              <a:rPr lang="it-IT" b="1"/>
              <a:t>Analysis: </a:t>
            </a:r>
            <a:r>
              <a:rPr lang="en-GB"/>
              <a:t>For each philosopher, I counted the number of distinct articles mentioning them, and identified the ten most mentioned, while preserving ties.</a:t>
            </a:r>
          </a:p>
          <a:p>
            <a:pPr marL="457200" indent="-457200">
              <a:buFont typeface="+mj-lt"/>
              <a:buAutoNum type="alphaLcParenR"/>
            </a:pPr>
            <a:endParaRPr lang="en-GB"/>
          </a:p>
          <a:p>
            <a:pPr marL="457200" indent="-457200">
              <a:buFont typeface="+mj-lt"/>
              <a:buAutoNum type="alphaLcParenR"/>
            </a:pPr>
            <a:endParaRPr lang="en-GB"/>
          </a:p>
          <a:p>
            <a:pPr marL="457200" indent="-457200">
              <a:buFont typeface="+mj-lt"/>
              <a:buAutoNum type="alphaLcParenR"/>
            </a:pPr>
            <a:endParaRPr lang="en-GB" b="1"/>
          </a:p>
        </p:txBody>
      </p:sp>
    </p:spTree>
    <p:extLst>
      <p:ext uri="{BB962C8B-B14F-4D97-AF65-F5344CB8AC3E}">
        <p14:creationId xmlns:p14="http://schemas.microsoft.com/office/powerpoint/2010/main" val="12547359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smtClean="0"/>
              <a:t>METHODOLOGY:</a:t>
            </a:r>
            <a:br>
              <a:rPr lang="it-IT" b="1" smtClean="0"/>
            </a:br>
            <a:r>
              <a:rPr lang="it-IT" b="1" smtClean="0"/>
              <a:t>3. Prestige</a:t>
            </a:r>
            <a:endParaRPr lang="en-GB" b="1"/>
          </a:p>
        </p:txBody>
      </p:sp>
      <p:sp>
        <p:nvSpPr>
          <p:cNvPr id="3" name="Segnaposto contenuto 2"/>
          <p:cNvSpPr>
            <a:spLocks noGrp="1"/>
          </p:cNvSpPr>
          <p:nvPr>
            <p:ph idx="1"/>
          </p:nvPr>
        </p:nvSpPr>
        <p:spPr/>
        <p:txBody>
          <a:bodyPr/>
          <a:lstStyle/>
          <a:p>
            <a:pPr marL="0" indent="0">
              <a:buNone/>
            </a:pPr>
            <a:r>
              <a:rPr lang="it-IT" b="1" smtClean="0"/>
              <a:t>3.2) Who are the most mentioned philosophers within the various sub-areas of analytic philosophy?</a:t>
            </a:r>
            <a:endParaRPr lang="it-IT" b="1"/>
          </a:p>
          <a:p>
            <a:pPr marL="457200" indent="-457200">
              <a:buFont typeface="+mj-lt"/>
              <a:buAutoNum type="alphaLcParenR"/>
            </a:pPr>
            <a:r>
              <a:rPr lang="it-IT" b="1" smtClean="0"/>
              <a:t>Interpretation: </a:t>
            </a:r>
            <a:r>
              <a:rPr lang="it-IT" smtClean="0"/>
              <a:t>I analysed</a:t>
            </a:r>
            <a:r>
              <a:rPr lang="en-GB" smtClean="0"/>
              <a:t> </a:t>
            </a:r>
            <a:r>
              <a:rPr lang="en-GB"/>
              <a:t>"sub-areas" using the Research_Area field in Articles_df. I</a:t>
            </a:r>
            <a:r>
              <a:rPr lang="en-GB" smtClean="0"/>
              <a:t> attributed </a:t>
            </a:r>
            <a:r>
              <a:rPr lang="en-GB"/>
              <a:t>each acknowledgment mention to the sub-area of the article it </a:t>
            </a:r>
            <a:r>
              <a:rPr lang="en-GB" smtClean="0"/>
              <a:t>comes </a:t>
            </a:r>
            <a:r>
              <a:rPr lang="en-GB"/>
              <a:t>from, and </a:t>
            </a:r>
            <a:r>
              <a:rPr lang="en-GB" smtClean="0"/>
              <a:t>ranked </a:t>
            </a:r>
            <a:r>
              <a:rPr lang="en-GB"/>
              <a:t>philosophers by mentions separately within each </a:t>
            </a:r>
            <a:r>
              <a:rPr lang="en-GB" smtClean="0"/>
              <a:t>sub-area.</a:t>
            </a:r>
            <a:endParaRPr lang="en-GB"/>
          </a:p>
          <a:p>
            <a:pPr marL="457200" indent="-457200">
              <a:buFont typeface="+mj-lt"/>
              <a:buAutoNum type="alphaLcParenR"/>
            </a:pPr>
            <a:r>
              <a:rPr lang="it-IT" b="1" smtClean="0"/>
              <a:t>Data quality: </a:t>
            </a:r>
            <a:r>
              <a:rPr lang="en-GB"/>
              <a:t>As in 3.1, </a:t>
            </a:r>
            <a:r>
              <a:rPr lang="en-GB" smtClean="0"/>
              <a:t>I </a:t>
            </a:r>
            <a:r>
              <a:rPr lang="en-GB"/>
              <a:t>de-duplicated Art_ID - Phi_ID pairs before counting. Moreover, </a:t>
            </a:r>
            <a:r>
              <a:rPr lang="en-GB" smtClean="0"/>
              <a:t>articles lacking a </a:t>
            </a:r>
            <a:r>
              <a:rPr lang="en-GB"/>
              <a:t>sub-area </a:t>
            </a:r>
            <a:r>
              <a:rPr lang="en-GB" smtClean="0"/>
              <a:t>are </a:t>
            </a:r>
            <a:r>
              <a:rPr lang="en-GB"/>
              <a:t>excluded from this analysis</a:t>
            </a:r>
            <a:r>
              <a:rPr lang="en-GB" smtClean="0"/>
              <a:t>.</a:t>
            </a:r>
          </a:p>
          <a:p>
            <a:pPr marL="457200" indent="-457200">
              <a:buFont typeface="+mj-lt"/>
              <a:buAutoNum type="alphaLcParenR"/>
            </a:pPr>
            <a:r>
              <a:rPr lang="it-IT" b="1"/>
              <a:t>Analysis: </a:t>
            </a:r>
            <a:r>
              <a:rPr lang="it-IT"/>
              <a:t>I </a:t>
            </a:r>
            <a:r>
              <a:rPr lang="en-GB"/>
              <a:t>identified the three most mentioned philosophers within each sub-area, using a tie-preserving cutoff.</a:t>
            </a:r>
            <a:endParaRPr lang="en-GB" b="1"/>
          </a:p>
          <a:p>
            <a:pPr marL="457200" indent="-457200">
              <a:buFont typeface="+mj-lt"/>
              <a:buAutoNum type="alphaLcParenR"/>
            </a:pPr>
            <a:endParaRPr lang="en-GB"/>
          </a:p>
          <a:p>
            <a:pPr marL="457200" indent="-457200">
              <a:buFont typeface="+mj-lt"/>
              <a:buAutoNum type="alphaLcParenR"/>
            </a:pPr>
            <a:endParaRPr lang="en-GB" b="1"/>
          </a:p>
          <a:p>
            <a:pPr marL="457200" indent="-457200">
              <a:buFont typeface="+mj-lt"/>
              <a:buAutoNum type="alphaLcParenR"/>
            </a:pPr>
            <a:endParaRPr lang="it-IT" b="1"/>
          </a:p>
          <a:p>
            <a:pPr marL="0" indent="0">
              <a:buNone/>
            </a:pPr>
            <a:endParaRPr lang="en-GB" b="1"/>
          </a:p>
        </p:txBody>
      </p:sp>
    </p:spTree>
    <p:extLst>
      <p:ext uri="{BB962C8B-B14F-4D97-AF65-F5344CB8AC3E}">
        <p14:creationId xmlns:p14="http://schemas.microsoft.com/office/powerpoint/2010/main" val="8129000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smtClean="0"/>
              <a:t>METHODOLOGY:</a:t>
            </a:r>
            <a:br>
              <a:rPr lang="it-IT" b="1" smtClean="0"/>
            </a:br>
            <a:r>
              <a:rPr lang="it-IT" b="1" smtClean="0"/>
              <a:t>3. Prestige</a:t>
            </a:r>
            <a:endParaRPr lang="en-GB" b="1"/>
          </a:p>
        </p:txBody>
      </p:sp>
      <p:sp>
        <p:nvSpPr>
          <p:cNvPr id="3" name="Segnaposto contenuto 2"/>
          <p:cNvSpPr>
            <a:spLocks noGrp="1"/>
          </p:cNvSpPr>
          <p:nvPr>
            <p:ph idx="1"/>
          </p:nvPr>
        </p:nvSpPr>
        <p:spPr/>
        <p:txBody>
          <a:bodyPr/>
          <a:lstStyle/>
          <a:p>
            <a:pPr marL="0" indent="0">
              <a:buNone/>
            </a:pPr>
            <a:r>
              <a:rPr lang="it-IT" b="1" smtClean="0"/>
              <a:t>3.3) </a:t>
            </a:r>
            <a:r>
              <a:rPr lang="en-GB" b="1"/>
              <a:t>How are mentions distributed among the members of the community</a:t>
            </a:r>
            <a:r>
              <a:rPr lang="en-GB" b="1" smtClean="0"/>
              <a:t>?</a:t>
            </a:r>
          </a:p>
          <a:p>
            <a:pPr marL="457200" indent="-457200">
              <a:buFont typeface="+mj-lt"/>
              <a:buAutoNum type="alphaLcParenR"/>
            </a:pPr>
            <a:r>
              <a:rPr lang="it-IT" b="1" smtClean="0"/>
              <a:t>Interpretation: </a:t>
            </a:r>
            <a:r>
              <a:rPr lang="en-GB"/>
              <a:t>"community" as the full population of philosophers recorded in the </a:t>
            </a:r>
            <a:r>
              <a:rPr lang="en-GB" smtClean="0"/>
              <a:t>database (Philosophers_df). Philosophers never mentioned in Acknowledgments_df are coded as zero. </a:t>
            </a:r>
          </a:p>
          <a:p>
            <a:pPr marL="457200" indent="-457200">
              <a:buFont typeface="+mj-lt"/>
              <a:buAutoNum type="alphaLcParenR"/>
            </a:pPr>
            <a:r>
              <a:rPr lang="it-IT" b="1" smtClean="0"/>
              <a:t>Data quality: </a:t>
            </a:r>
            <a:r>
              <a:rPr lang="it-IT" smtClean="0"/>
              <a:t>as in 3.1 and 3.2 mentions were de-duplicated on Art_ID – Phi_ID before counting. </a:t>
            </a:r>
          </a:p>
          <a:p>
            <a:pPr marL="457200" indent="-457200">
              <a:buFont typeface="+mj-lt"/>
              <a:buAutoNum type="alphaLcParenR"/>
            </a:pPr>
            <a:r>
              <a:rPr lang="it-IT" b="1"/>
              <a:t>Analysis: </a:t>
            </a:r>
            <a:r>
              <a:rPr lang="it-IT"/>
              <a:t>I </a:t>
            </a:r>
            <a:r>
              <a:rPr lang="en-GB"/>
              <a:t>computed the mean, median, mode, and standard deviation of the number of mentions across the full population of philosophers. </a:t>
            </a:r>
            <a:endParaRPr lang="en-GB" b="1"/>
          </a:p>
          <a:p>
            <a:pPr marL="457200" indent="-457200">
              <a:buFont typeface="+mj-lt"/>
              <a:buAutoNum type="alphaLcParenR"/>
            </a:pPr>
            <a:endParaRPr lang="en-GB" b="1"/>
          </a:p>
        </p:txBody>
      </p:sp>
    </p:spTree>
    <p:extLst>
      <p:ext uri="{BB962C8B-B14F-4D97-AF65-F5344CB8AC3E}">
        <p14:creationId xmlns:p14="http://schemas.microsoft.com/office/powerpoint/2010/main" val="22394125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dirty="0" smtClean="0"/>
              <a:t>METHODOLOGY:</a:t>
            </a:r>
            <a:br>
              <a:rPr lang="it-IT" b="1" dirty="0" smtClean="0"/>
            </a:br>
            <a:r>
              <a:rPr lang="it-IT" b="1" dirty="0" smtClean="0"/>
              <a:t>3. </a:t>
            </a:r>
            <a:r>
              <a:rPr lang="it-IT" b="1" dirty="0" err="1" smtClean="0"/>
              <a:t>Prestige</a:t>
            </a:r>
            <a:endParaRPr lang="en-GB" b="1"/>
          </a:p>
        </p:txBody>
      </p:sp>
      <p:sp>
        <p:nvSpPr>
          <p:cNvPr id="3" name="Segnaposto contenuto 2"/>
          <p:cNvSpPr>
            <a:spLocks noGrp="1"/>
          </p:cNvSpPr>
          <p:nvPr>
            <p:ph idx="1"/>
          </p:nvPr>
        </p:nvSpPr>
        <p:spPr/>
        <p:txBody>
          <a:bodyPr/>
          <a:lstStyle/>
          <a:p>
            <a:pPr marL="0" indent="0">
              <a:buNone/>
            </a:pPr>
            <a:r>
              <a:rPr lang="it-IT" b="1" smtClean="0"/>
              <a:t>3.4) </a:t>
            </a:r>
            <a:r>
              <a:rPr lang="it-IT" b="1"/>
              <a:t>Are mentions correlated with other indicators of prestige (e.g. number of citations or number of published articles</a:t>
            </a:r>
            <a:r>
              <a:rPr lang="it-IT" b="1" smtClean="0"/>
              <a:t>)?</a:t>
            </a:r>
          </a:p>
          <a:p>
            <a:pPr marL="457200" indent="-457200">
              <a:buFont typeface="+mj-lt"/>
              <a:buAutoNum type="alphaLcParenR"/>
            </a:pPr>
            <a:r>
              <a:rPr lang="it-IT" b="1" smtClean="0"/>
              <a:t>Interpretation: </a:t>
            </a:r>
            <a:r>
              <a:rPr lang="en-GB"/>
              <a:t>I used three variables as plausible prestige indicators: career-wide Citations and Publications (both from Philosophers_df), and N_Articles (the productivity measure from RQ 1). Moreover, correlation is measured as the R2 </a:t>
            </a:r>
            <a:r>
              <a:rPr lang="en-GB" smtClean="0"/>
              <a:t>of </a:t>
            </a:r>
            <a:r>
              <a:rPr lang="en-GB"/>
              <a:t>linear regression</a:t>
            </a:r>
            <a:r>
              <a:rPr lang="en-GB" smtClean="0"/>
              <a:t>.</a:t>
            </a:r>
          </a:p>
          <a:p>
            <a:pPr marL="457200" indent="-457200">
              <a:buFont typeface="+mj-lt"/>
              <a:buAutoNum type="alphaLcParenR"/>
            </a:pPr>
            <a:r>
              <a:rPr lang="it-IT" b="1" smtClean="0"/>
              <a:t>Data quality: </a:t>
            </a:r>
            <a:r>
              <a:rPr lang="en-GB"/>
              <a:t>Citations/Publications are missing for 45% of philosophers (incomplete Scopus matching); models fit on different </a:t>
            </a:r>
            <a:r>
              <a:rPr lang="en-GB" smtClean="0"/>
              <a:t>sample sizes </a:t>
            </a:r>
            <a:r>
              <a:rPr lang="en-GB"/>
              <a:t>as a result.</a:t>
            </a:r>
          </a:p>
          <a:p>
            <a:pPr marL="457200" indent="-457200">
              <a:buFont typeface="+mj-lt"/>
              <a:buAutoNum type="alphaLcParenR"/>
            </a:pPr>
            <a:r>
              <a:rPr lang="it-IT" b="1"/>
              <a:t>Analysis: </a:t>
            </a:r>
            <a:r>
              <a:rPr lang="it-IT"/>
              <a:t>I </a:t>
            </a:r>
            <a:r>
              <a:rPr lang="it-IT" smtClean="0"/>
              <a:t>computed, for each prestige indicator, </a:t>
            </a:r>
            <a:r>
              <a:rPr lang="en-GB"/>
              <a:t>three separate linear </a:t>
            </a:r>
            <a:r>
              <a:rPr lang="en-GB" smtClean="0"/>
              <a:t>regressions and R2.</a:t>
            </a:r>
            <a:endParaRPr lang="en-GB"/>
          </a:p>
          <a:p>
            <a:pPr marL="457200" indent="-457200">
              <a:buFont typeface="+mj-lt"/>
              <a:buAutoNum type="alphaLcParenR"/>
            </a:pPr>
            <a:endParaRPr lang="en-GB" b="1" smtClean="0"/>
          </a:p>
          <a:p>
            <a:pPr marL="457200" indent="-457200">
              <a:buFont typeface="+mj-lt"/>
              <a:buAutoNum type="alphaLcParenR"/>
            </a:pPr>
            <a:endParaRPr lang="it-IT" b="1"/>
          </a:p>
          <a:p>
            <a:pPr marL="0" indent="0">
              <a:buNone/>
            </a:pPr>
            <a:endParaRPr lang="en-GB" b="1"/>
          </a:p>
        </p:txBody>
      </p:sp>
    </p:spTree>
    <p:extLst>
      <p:ext uri="{BB962C8B-B14F-4D97-AF65-F5344CB8AC3E}">
        <p14:creationId xmlns:p14="http://schemas.microsoft.com/office/powerpoint/2010/main" val="11731014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dirty="0" smtClean="0"/>
              <a:t>METHODOLOGY:</a:t>
            </a:r>
            <a:br>
              <a:rPr lang="it-IT" b="1" dirty="0" smtClean="0"/>
            </a:br>
            <a:r>
              <a:rPr lang="it-IT" b="1" dirty="0" smtClean="0"/>
              <a:t>3. </a:t>
            </a:r>
            <a:r>
              <a:rPr lang="it-IT" b="1" dirty="0" err="1" smtClean="0"/>
              <a:t>Prestige</a:t>
            </a:r>
            <a:endParaRPr lang="en-GB" b="1"/>
          </a:p>
        </p:txBody>
      </p:sp>
      <p:sp>
        <p:nvSpPr>
          <p:cNvPr id="3" name="Segnaposto contenuto 2"/>
          <p:cNvSpPr>
            <a:spLocks noGrp="1"/>
          </p:cNvSpPr>
          <p:nvPr>
            <p:ph idx="1"/>
          </p:nvPr>
        </p:nvSpPr>
        <p:spPr/>
        <p:txBody>
          <a:bodyPr/>
          <a:lstStyle/>
          <a:p>
            <a:pPr marL="0" indent="0">
              <a:buNone/>
            </a:pPr>
            <a:r>
              <a:rPr lang="it-IT" b="1" smtClean="0"/>
              <a:t>3.5) </a:t>
            </a:r>
            <a:r>
              <a:rPr lang="it-IT" b="1"/>
              <a:t>Does gender affect the chances of accumulating mentions</a:t>
            </a:r>
            <a:r>
              <a:rPr lang="it-IT" b="1" smtClean="0"/>
              <a:t>?</a:t>
            </a:r>
          </a:p>
          <a:p>
            <a:pPr marL="457200" indent="-457200">
              <a:buFont typeface="+mj-lt"/>
              <a:buAutoNum type="alphaLcParenR"/>
            </a:pPr>
            <a:r>
              <a:rPr lang="it-IT" b="1" smtClean="0"/>
              <a:t>Interpretation: </a:t>
            </a:r>
            <a:r>
              <a:rPr lang="en-GB" smtClean="0"/>
              <a:t>The </a:t>
            </a:r>
            <a:r>
              <a:rPr lang="en-GB"/>
              <a:t>analysis is defined over the full population of philosophers with known gender.</a:t>
            </a:r>
          </a:p>
          <a:p>
            <a:pPr marL="457200" indent="-457200">
              <a:buFont typeface="+mj-lt"/>
              <a:buAutoNum type="alphaLcParenR"/>
            </a:pPr>
            <a:r>
              <a:rPr lang="it-IT" b="1" smtClean="0"/>
              <a:t>Data quality: </a:t>
            </a:r>
            <a:r>
              <a:rPr lang="en-GB"/>
              <a:t>92 philosophers (1.5%) with unknown gender </a:t>
            </a:r>
            <a:r>
              <a:rPr lang="en-GB" smtClean="0"/>
              <a:t>are excluded</a:t>
            </a:r>
            <a:r>
              <a:rPr lang="en-GB"/>
              <a:t>; never-mentioned </a:t>
            </a:r>
            <a:r>
              <a:rPr lang="en-GB" smtClean="0"/>
              <a:t>philosophers are </a:t>
            </a:r>
            <a:r>
              <a:rPr lang="en-GB"/>
              <a:t>coded as 0, as in 3.3</a:t>
            </a:r>
            <a:r>
              <a:rPr lang="en-GB" smtClean="0"/>
              <a:t>.</a:t>
            </a:r>
          </a:p>
          <a:p>
            <a:pPr marL="457200" indent="-457200">
              <a:buFont typeface="+mj-lt"/>
              <a:buAutoNum type="alphaLcParenR"/>
            </a:pPr>
            <a:r>
              <a:rPr lang="it-IT" b="1"/>
              <a:t>Analysis: </a:t>
            </a:r>
            <a:r>
              <a:rPr lang="en-GB"/>
              <a:t>I segmented the population into four mention tiers </a:t>
            </a:r>
            <a:r>
              <a:rPr lang="en-GB" smtClean="0"/>
              <a:t>(below/at/above median and 10%) based </a:t>
            </a:r>
            <a:r>
              <a:rPr lang="en-GB"/>
              <a:t>on the median and 90th percentile, and computed the number and percentage of women and men within each tier.</a:t>
            </a:r>
            <a:endParaRPr lang="en-GB" b="1"/>
          </a:p>
          <a:p>
            <a:pPr marL="457200" indent="-457200">
              <a:buFont typeface="+mj-lt"/>
              <a:buAutoNum type="alphaLcParenR"/>
            </a:pPr>
            <a:endParaRPr lang="en-GB" b="1"/>
          </a:p>
          <a:p>
            <a:pPr marL="0" indent="0">
              <a:buNone/>
            </a:pPr>
            <a:endParaRPr lang="en-GB" b="1" smtClean="0"/>
          </a:p>
          <a:p>
            <a:pPr marL="457200" indent="-457200">
              <a:buFont typeface="+mj-lt"/>
              <a:buAutoNum type="alphaLcParenR" startAt="3"/>
            </a:pPr>
            <a:endParaRPr lang="en-GB" b="1"/>
          </a:p>
          <a:p>
            <a:pPr marL="457200" indent="-457200">
              <a:buFont typeface="+mj-lt"/>
              <a:buAutoNum type="alphaLcParenR" startAt="3"/>
            </a:pPr>
            <a:endParaRPr lang="it-IT" b="1"/>
          </a:p>
          <a:p>
            <a:pPr marL="0" indent="0">
              <a:buNone/>
            </a:pPr>
            <a:endParaRPr lang="en-GB" b="1"/>
          </a:p>
        </p:txBody>
      </p:sp>
    </p:spTree>
    <p:extLst>
      <p:ext uri="{BB962C8B-B14F-4D97-AF65-F5344CB8AC3E}">
        <p14:creationId xmlns:p14="http://schemas.microsoft.com/office/powerpoint/2010/main" val="1151167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smtClean="0"/>
              <a:t>RESULTS:</a:t>
            </a:r>
            <a:br>
              <a:rPr lang="it-IT" b="1" smtClean="0"/>
            </a:br>
            <a:r>
              <a:rPr lang="it-IT" sz="2800" b="1" smtClean="0"/>
              <a:t>1.1 Most productive philosophers</a:t>
            </a:r>
            <a:endParaRPr lang="en-GB" sz="2800" b="1"/>
          </a:p>
        </p:txBody>
      </p:sp>
      <p:pic>
        <p:nvPicPr>
          <p:cNvPr id="8" name="Segnaposto contenuto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87419" y="1976582"/>
            <a:ext cx="7426036" cy="4531759"/>
          </a:xfrm>
        </p:spPr>
      </p:pic>
    </p:spTree>
    <p:extLst>
      <p:ext uri="{BB962C8B-B14F-4D97-AF65-F5344CB8AC3E}">
        <p14:creationId xmlns:p14="http://schemas.microsoft.com/office/powerpoint/2010/main" val="151519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smtClean="0"/>
              <a:t>RESULTS:</a:t>
            </a:r>
            <a:r>
              <a:rPr lang="it-IT" b="1"/>
              <a:t/>
            </a:r>
            <a:br>
              <a:rPr lang="it-IT" b="1"/>
            </a:br>
            <a:r>
              <a:rPr lang="it-IT" sz="2800" b="1"/>
              <a:t>1.1 Most productive </a:t>
            </a:r>
            <a:r>
              <a:rPr lang="it-IT" sz="2800" b="1" smtClean="0"/>
              <a:t>philosophers </a:t>
            </a:r>
            <a:r>
              <a:rPr lang="it-IT" sz="2000" b="1" smtClean="0"/>
              <a:t>(top_philosophers)</a:t>
            </a:r>
            <a:endParaRPr lang="en-GB" sz="3600"/>
          </a:p>
        </p:txBody>
      </p:sp>
      <p:graphicFrame>
        <p:nvGraphicFramePr>
          <p:cNvPr id="4" name="Segnaposto contenuto 3"/>
          <p:cNvGraphicFramePr>
            <a:graphicFrameLocks noGrp="1"/>
          </p:cNvGraphicFramePr>
          <p:nvPr>
            <p:ph idx="1"/>
            <p:extLst>
              <p:ext uri="{D42A27DB-BD31-4B8C-83A1-F6EECF244321}">
                <p14:modId xmlns:p14="http://schemas.microsoft.com/office/powerpoint/2010/main" val="4101424054"/>
              </p:ext>
            </p:extLst>
          </p:nvPr>
        </p:nvGraphicFramePr>
        <p:xfrm>
          <a:off x="1551710" y="1985819"/>
          <a:ext cx="3694542" cy="3909292"/>
        </p:xfrm>
        <a:graphic>
          <a:graphicData uri="http://schemas.openxmlformats.org/drawingml/2006/table">
            <a:tbl>
              <a:tblPr firstRow="1" bandRow="1">
                <a:tableStyleId>{5C22544A-7EE6-4342-B048-85BDC9FD1C3A}</a:tableStyleId>
              </a:tblPr>
              <a:tblGrid>
                <a:gridCol w="1231514">
                  <a:extLst>
                    <a:ext uri="{9D8B030D-6E8A-4147-A177-3AD203B41FA5}">
                      <a16:colId xmlns:a16="http://schemas.microsoft.com/office/drawing/2014/main" val="2443737813"/>
                    </a:ext>
                  </a:extLst>
                </a:gridCol>
                <a:gridCol w="1231514">
                  <a:extLst>
                    <a:ext uri="{9D8B030D-6E8A-4147-A177-3AD203B41FA5}">
                      <a16:colId xmlns:a16="http://schemas.microsoft.com/office/drawing/2014/main" val="666405783"/>
                    </a:ext>
                  </a:extLst>
                </a:gridCol>
                <a:gridCol w="1231514">
                  <a:extLst>
                    <a:ext uri="{9D8B030D-6E8A-4147-A177-3AD203B41FA5}">
                      <a16:colId xmlns:a16="http://schemas.microsoft.com/office/drawing/2014/main" val="1471568690"/>
                    </a:ext>
                  </a:extLst>
                </a:gridCol>
              </a:tblGrid>
              <a:tr h="378125">
                <a:tc>
                  <a:txBody>
                    <a:bodyPr/>
                    <a:lstStyle/>
                    <a:p>
                      <a:r>
                        <a:rPr lang="it-IT" sz="1200" smtClean="0"/>
                        <a:t>Rank</a:t>
                      </a:r>
                      <a:endParaRPr lang="en-GB" sz="1200"/>
                    </a:p>
                  </a:txBody>
                  <a:tcPr/>
                </a:tc>
                <a:tc>
                  <a:txBody>
                    <a:bodyPr/>
                    <a:lstStyle/>
                    <a:p>
                      <a:r>
                        <a:rPr lang="it-IT" sz="1200" smtClean="0"/>
                        <a:t>Philosopher</a:t>
                      </a:r>
                      <a:endParaRPr lang="en-GB" sz="1200"/>
                    </a:p>
                  </a:txBody>
                  <a:tcPr/>
                </a:tc>
                <a:tc>
                  <a:txBody>
                    <a:bodyPr/>
                    <a:lstStyle/>
                    <a:p>
                      <a:r>
                        <a:rPr lang="it-IT" sz="1200" smtClean="0"/>
                        <a:t>N</a:t>
                      </a:r>
                      <a:r>
                        <a:rPr lang="it-IT" sz="1200" baseline="0" smtClean="0"/>
                        <a:t> </a:t>
                      </a:r>
                      <a:r>
                        <a:rPr lang="it-IT" sz="1200" smtClean="0"/>
                        <a:t>Articles</a:t>
                      </a:r>
                      <a:endParaRPr lang="en-GB" sz="1200"/>
                    </a:p>
                  </a:txBody>
                  <a:tcPr/>
                </a:tc>
                <a:extLst>
                  <a:ext uri="{0D108BD9-81ED-4DB2-BD59-A6C34878D82A}">
                    <a16:rowId xmlns:a16="http://schemas.microsoft.com/office/drawing/2014/main" val="4266287292"/>
                  </a:ext>
                </a:extLst>
              </a:tr>
              <a:tr h="467069">
                <a:tc>
                  <a:txBody>
                    <a:bodyPr/>
                    <a:lstStyle/>
                    <a:p>
                      <a:r>
                        <a:rPr lang="it-IT" sz="1000" smtClean="0"/>
                        <a:t>1</a:t>
                      </a:r>
                    </a:p>
                  </a:txBody>
                  <a:tcPr/>
                </a:tc>
                <a:tc>
                  <a:txBody>
                    <a:bodyPr/>
                    <a:lstStyle/>
                    <a:p>
                      <a:r>
                        <a:rPr lang="it-IT" sz="1000" smtClean="0"/>
                        <a:t>J. Robert G. Williams</a:t>
                      </a:r>
                      <a:endParaRPr lang="en-GB" sz="1000"/>
                    </a:p>
                  </a:txBody>
                  <a:tcPr/>
                </a:tc>
                <a:tc>
                  <a:txBody>
                    <a:bodyPr/>
                    <a:lstStyle/>
                    <a:p>
                      <a:r>
                        <a:rPr lang="it-IT" sz="1000" smtClean="0"/>
                        <a:t>10</a:t>
                      </a:r>
                      <a:endParaRPr lang="en-GB" sz="1000"/>
                    </a:p>
                  </a:txBody>
                  <a:tcPr/>
                </a:tc>
                <a:extLst>
                  <a:ext uri="{0D108BD9-81ED-4DB2-BD59-A6C34878D82A}">
                    <a16:rowId xmlns:a16="http://schemas.microsoft.com/office/drawing/2014/main" val="3159258003"/>
                  </a:ext>
                </a:extLst>
              </a:tr>
              <a:tr h="467069">
                <a:tc>
                  <a:txBody>
                    <a:bodyPr/>
                    <a:lstStyle/>
                    <a:p>
                      <a:r>
                        <a:rPr lang="it-IT" sz="1000" smtClean="0"/>
                        <a:t>2</a:t>
                      </a:r>
                      <a:endParaRPr lang="en-GB" sz="100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1000" smtClean="0"/>
                        <a:t>Carolina Sartorio</a:t>
                      </a:r>
                      <a:endParaRPr lang="en-GB" sz="1000" smtClean="0"/>
                    </a:p>
                  </a:txBody>
                  <a:tcPr/>
                </a:tc>
                <a:tc>
                  <a:txBody>
                    <a:bodyPr/>
                    <a:lstStyle/>
                    <a:p>
                      <a:r>
                        <a:rPr lang="it-IT" sz="1000" smtClean="0"/>
                        <a:t>10</a:t>
                      </a:r>
                      <a:endParaRPr lang="en-GB" sz="1000"/>
                    </a:p>
                  </a:txBody>
                  <a:tcPr/>
                </a:tc>
                <a:extLst>
                  <a:ext uri="{0D108BD9-81ED-4DB2-BD59-A6C34878D82A}">
                    <a16:rowId xmlns:a16="http://schemas.microsoft.com/office/drawing/2014/main" val="2709968617"/>
                  </a:ext>
                </a:extLst>
              </a:tr>
              <a:tr h="385475">
                <a:tc>
                  <a:txBody>
                    <a:bodyPr/>
                    <a:lstStyle/>
                    <a:p>
                      <a:r>
                        <a:rPr lang="it-IT" sz="1000" smtClean="0"/>
                        <a:t>3</a:t>
                      </a:r>
                      <a:endParaRPr lang="en-GB" sz="1000"/>
                    </a:p>
                  </a:txBody>
                  <a:tcPr/>
                </a:tc>
                <a:tc>
                  <a:txBody>
                    <a:bodyPr/>
                    <a:lstStyle/>
                    <a:p>
                      <a:r>
                        <a:rPr lang="it-IT" sz="1000" smtClean="0"/>
                        <a:t>John Turri</a:t>
                      </a:r>
                      <a:endParaRPr lang="en-GB" sz="1000"/>
                    </a:p>
                  </a:txBody>
                  <a:tcPr/>
                </a:tc>
                <a:tc>
                  <a:txBody>
                    <a:bodyPr/>
                    <a:lstStyle/>
                    <a:p>
                      <a:r>
                        <a:rPr lang="it-IT" sz="1000" smtClean="0"/>
                        <a:t>8</a:t>
                      </a:r>
                      <a:endParaRPr lang="en-GB" sz="1000"/>
                    </a:p>
                  </a:txBody>
                  <a:tcPr/>
                </a:tc>
                <a:extLst>
                  <a:ext uri="{0D108BD9-81ED-4DB2-BD59-A6C34878D82A}">
                    <a16:rowId xmlns:a16="http://schemas.microsoft.com/office/drawing/2014/main" val="3161627797"/>
                  </a:ext>
                </a:extLst>
              </a:tr>
              <a:tr h="385475">
                <a:tc>
                  <a:txBody>
                    <a:bodyPr/>
                    <a:lstStyle/>
                    <a:p>
                      <a:r>
                        <a:rPr lang="it-IT" sz="1000" smtClean="0"/>
                        <a:t>4</a:t>
                      </a:r>
                      <a:endParaRPr lang="en-GB" sz="1000"/>
                    </a:p>
                  </a:txBody>
                  <a:tcPr/>
                </a:tc>
                <a:tc>
                  <a:txBody>
                    <a:bodyPr/>
                    <a:lstStyle/>
                    <a:p>
                      <a:r>
                        <a:rPr lang="it-IT" sz="1000" smtClean="0"/>
                        <a:t>Marc Lange</a:t>
                      </a:r>
                      <a:endParaRPr lang="en-GB" sz="1000"/>
                    </a:p>
                  </a:txBody>
                  <a:tcPr/>
                </a:tc>
                <a:tc>
                  <a:txBody>
                    <a:bodyPr/>
                    <a:lstStyle/>
                    <a:p>
                      <a:r>
                        <a:rPr lang="it-IT" sz="1000" smtClean="0"/>
                        <a:t>8</a:t>
                      </a:r>
                      <a:endParaRPr lang="en-GB" sz="1000"/>
                    </a:p>
                  </a:txBody>
                  <a:tcPr/>
                </a:tc>
                <a:extLst>
                  <a:ext uri="{0D108BD9-81ED-4DB2-BD59-A6C34878D82A}">
                    <a16:rowId xmlns:a16="http://schemas.microsoft.com/office/drawing/2014/main" val="2303920404"/>
                  </a:ext>
                </a:extLst>
              </a:tr>
              <a:tr h="467069">
                <a:tc>
                  <a:txBody>
                    <a:bodyPr/>
                    <a:lstStyle/>
                    <a:p>
                      <a:r>
                        <a:rPr lang="it-IT" sz="1000" smtClean="0"/>
                        <a:t>5</a:t>
                      </a:r>
                      <a:endParaRPr lang="en-GB" sz="1000"/>
                    </a:p>
                  </a:txBody>
                  <a:tcPr/>
                </a:tc>
                <a:tc>
                  <a:txBody>
                    <a:bodyPr/>
                    <a:lstStyle/>
                    <a:p>
                      <a:r>
                        <a:rPr lang="it-IT" sz="1000" smtClean="0"/>
                        <a:t>Mark Schroeder</a:t>
                      </a:r>
                      <a:endParaRPr lang="en-GB" sz="1000"/>
                    </a:p>
                  </a:txBody>
                  <a:tcPr/>
                </a:tc>
                <a:tc>
                  <a:txBody>
                    <a:bodyPr/>
                    <a:lstStyle/>
                    <a:p>
                      <a:r>
                        <a:rPr lang="it-IT" sz="1000" smtClean="0"/>
                        <a:t>8</a:t>
                      </a:r>
                      <a:endParaRPr lang="en-GB" sz="1000"/>
                    </a:p>
                  </a:txBody>
                  <a:tcPr/>
                </a:tc>
                <a:extLst>
                  <a:ext uri="{0D108BD9-81ED-4DB2-BD59-A6C34878D82A}">
                    <a16:rowId xmlns:a16="http://schemas.microsoft.com/office/drawing/2014/main" val="1569544446"/>
                  </a:ext>
                </a:extLst>
              </a:tr>
              <a:tr h="467069">
                <a:tc>
                  <a:txBody>
                    <a:bodyPr/>
                    <a:lstStyle/>
                    <a:p>
                      <a:r>
                        <a:rPr lang="it-IT" sz="1000" smtClean="0"/>
                        <a:t>6</a:t>
                      </a:r>
                      <a:endParaRPr lang="en-GB" sz="1000"/>
                    </a:p>
                  </a:txBody>
                  <a:tcPr/>
                </a:tc>
                <a:tc>
                  <a:txBody>
                    <a:bodyPr/>
                    <a:lstStyle/>
                    <a:p>
                      <a:r>
                        <a:rPr lang="it-IT" sz="1000" smtClean="0"/>
                        <a:t>David</a:t>
                      </a:r>
                      <a:r>
                        <a:rPr lang="it-IT" sz="1000" baseline="0" smtClean="0"/>
                        <a:t> J. Barnett</a:t>
                      </a:r>
                      <a:endParaRPr lang="en-GB" sz="1000"/>
                    </a:p>
                  </a:txBody>
                  <a:tcPr/>
                </a:tc>
                <a:tc>
                  <a:txBody>
                    <a:bodyPr/>
                    <a:lstStyle/>
                    <a:p>
                      <a:r>
                        <a:rPr lang="it-IT" sz="1000" smtClean="0"/>
                        <a:t>8</a:t>
                      </a:r>
                      <a:endParaRPr lang="en-GB" sz="1000"/>
                    </a:p>
                  </a:txBody>
                  <a:tcPr/>
                </a:tc>
                <a:extLst>
                  <a:ext uri="{0D108BD9-81ED-4DB2-BD59-A6C34878D82A}">
                    <a16:rowId xmlns:a16="http://schemas.microsoft.com/office/drawing/2014/main" val="2094127642"/>
                  </a:ext>
                </a:extLst>
              </a:tr>
              <a:tr h="385475">
                <a:tc>
                  <a:txBody>
                    <a:bodyPr/>
                    <a:lstStyle/>
                    <a:p>
                      <a:r>
                        <a:rPr lang="it-IT" sz="1000" smtClean="0"/>
                        <a:t>7</a:t>
                      </a:r>
                      <a:endParaRPr lang="en-GB" sz="1000"/>
                    </a:p>
                  </a:txBody>
                  <a:tcPr/>
                </a:tc>
                <a:tc>
                  <a:txBody>
                    <a:bodyPr/>
                    <a:lstStyle/>
                    <a:p>
                      <a:r>
                        <a:rPr lang="it-IT" sz="1000" smtClean="0"/>
                        <a:t>Christian</a:t>
                      </a:r>
                      <a:r>
                        <a:rPr lang="it-IT" sz="1000" baseline="0" smtClean="0"/>
                        <a:t> List</a:t>
                      </a:r>
                      <a:endParaRPr lang="en-GB" sz="1000"/>
                    </a:p>
                  </a:txBody>
                  <a:tcPr/>
                </a:tc>
                <a:tc>
                  <a:txBody>
                    <a:bodyPr/>
                    <a:lstStyle/>
                    <a:p>
                      <a:r>
                        <a:rPr lang="it-IT" sz="1000" smtClean="0"/>
                        <a:t>8</a:t>
                      </a:r>
                      <a:endParaRPr lang="en-GB" sz="1000"/>
                    </a:p>
                  </a:txBody>
                  <a:tcPr/>
                </a:tc>
                <a:extLst>
                  <a:ext uri="{0D108BD9-81ED-4DB2-BD59-A6C34878D82A}">
                    <a16:rowId xmlns:a16="http://schemas.microsoft.com/office/drawing/2014/main" val="3109708015"/>
                  </a:ext>
                </a:extLst>
              </a:tr>
              <a:tr h="506466">
                <a:tc>
                  <a:txBody>
                    <a:bodyPr/>
                    <a:lstStyle/>
                    <a:p>
                      <a:r>
                        <a:rPr lang="it-IT" sz="1000" smtClean="0"/>
                        <a:t>8</a:t>
                      </a:r>
                      <a:endParaRPr lang="en-GB" sz="1000"/>
                    </a:p>
                  </a:txBody>
                  <a:tcPr/>
                </a:tc>
                <a:tc>
                  <a:txBody>
                    <a:bodyPr/>
                    <a:lstStyle/>
                    <a:p>
                      <a:r>
                        <a:rPr lang="it-IT" sz="1000" smtClean="0"/>
                        <a:t>Susanna Schellenberg</a:t>
                      </a:r>
                      <a:endParaRPr lang="en-GB" sz="1000"/>
                    </a:p>
                  </a:txBody>
                  <a:tcPr/>
                </a:tc>
                <a:tc>
                  <a:txBody>
                    <a:bodyPr/>
                    <a:lstStyle/>
                    <a:p>
                      <a:r>
                        <a:rPr lang="it-IT" sz="1000" smtClean="0"/>
                        <a:t>8</a:t>
                      </a:r>
                      <a:endParaRPr lang="en-GB" sz="1000"/>
                    </a:p>
                  </a:txBody>
                  <a:tcPr/>
                </a:tc>
                <a:extLst>
                  <a:ext uri="{0D108BD9-81ED-4DB2-BD59-A6C34878D82A}">
                    <a16:rowId xmlns:a16="http://schemas.microsoft.com/office/drawing/2014/main" val="3323382201"/>
                  </a:ext>
                </a:extLst>
              </a:tr>
            </a:tbl>
          </a:graphicData>
        </a:graphic>
      </p:graphicFrame>
      <p:graphicFrame>
        <p:nvGraphicFramePr>
          <p:cNvPr id="5" name="Tabella 4"/>
          <p:cNvGraphicFramePr>
            <a:graphicFrameLocks noGrp="1"/>
          </p:cNvGraphicFramePr>
          <p:nvPr>
            <p:extLst>
              <p:ext uri="{D42A27DB-BD31-4B8C-83A1-F6EECF244321}">
                <p14:modId xmlns:p14="http://schemas.microsoft.com/office/powerpoint/2010/main" val="2907549305"/>
              </p:ext>
            </p:extLst>
          </p:nvPr>
        </p:nvGraphicFramePr>
        <p:xfrm>
          <a:off x="5348472" y="1985818"/>
          <a:ext cx="3647745" cy="4327240"/>
        </p:xfrm>
        <a:graphic>
          <a:graphicData uri="http://schemas.openxmlformats.org/drawingml/2006/table">
            <a:tbl>
              <a:tblPr firstRow="1" bandRow="1">
                <a:tableStyleId>{5C22544A-7EE6-4342-B048-85BDC9FD1C3A}</a:tableStyleId>
              </a:tblPr>
              <a:tblGrid>
                <a:gridCol w="1215915">
                  <a:extLst>
                    <a:ext uri="{9D8B030D-6E8A-4147-A177-3AD203B41FA5}">
                      <a16:colId xmlns:a16="http://schemas.microsoft.com/office/drawing/2014/main" val="2172470441"/>
                    </a:ext>
                  </a:extLst>
                </a:gridCol>
                <a:gridCol w="1215915">
                  <a:extLst>
                    <a:ext uri="{9D8B030D-6E8A-4147-A177-3AD203B41FA5}">
                      <a16:colId xmlns:a16="http://schemas.microsoft.com/office/drawing/2014/main" val="635310273"/>
                    </a:ext>
                  </a:extLst>
                </a:gridCol>
                <a:gridCol w="1215915">
                  <a:extLst>
                    <a:ext uri="{9D8B030D-6E8A-4147-A177-3AD203B41FA5}">
                      <a16:colId xmlns:a16="http://schemas.microsoft.com/office/drawing/2014/main" val="2418276663"/>
                    </a:ext>
                  </a:extLst>
                </a:gridCol>
              </a:tblGrid>
              <a:tr h="418395">
                <a:tc>
                  <a:txBody>
                    <a:bodyPr/>
                    <a:lstStyle/>
                    <a:p>
                      <a:r>
                        <a:rPr lang="it-IT" sz="1200" smtClean="0"/>
                        <a:t>Rank</a:t>
                      </a:r>
                      <a:endParaRPr lang="en-GB" sz="1200"/>
                    </a:p>
                  </a:txBody>
                  <a:tcPr/>
                </a:tc>
                <a:tc>
                  <a:txBody>
                    <a:bodyPr/>
                    <a:lstStyle/>
                    <a:p>
                      <a:r>
                        <a:rPr lang="it-IT" sz="1200" smtClean="0"/>
                        <a:t>Philosopher</a:t>
                      </a:r>
                      <a:endParaRPr lang="en-GB" sz="1200"/>
                    </a:p>
                  </a:txBody>
                  <a:tcPr/>
                </a:tc>
                <a:tc>
                  <a:txBody>
                    <a:bodyPr/>
                    <a:lstStyle/>
                    <a:p>
                      <a:r>
                        <a:rPr lang="it-IT" sz="1200" smtClean="0"/>
                        <a:t>N</a:t>
                      </a:r>
                      <a:r>
                        <a:rPr lang="it-IT" sz="1200" baseline="0" smtClean="0"/>
                        <a:t> </a:t>
                      </a:r>
                      <a:r>
                        <a:rPr lang="it-IT" sz="1200" smtClean="0"/>
                        <a:t>Articles</a:t>
                      </a:r>
                      <a:endParaRPr lang="en-GB" sz="1200"/>
                    </a:p>
                  </a:txBody>
                  <a:tcPr/>
                </a:tc>
                <a:extLst>
                  <a:ext uri="{0D108BD9-81ED-4DB2-BD59-A6C34878D82A}">
                    <a16:rowId xmlns:a16="http://schemas.microsoft.com/office/drawing/2014/main" val="2189321569"/>
                  </a:ext>
                </a:extLst>
              </a:tr>
              <a:tr h="418395">
                <a:tc>
                  <a:txBody>
                    <a:bodyPr/>
                    <a:lstStyle/>
                    <a:p>
                      <a:r>
                        <a:rPr lang="it-IT" sz="1000" smtClean="0"/>
                        <a:t>9</a:t>
                      </a:r>
                    </a:p>
                  </a:txBody>
                  <a:tcPr/>
                </a:tc>
                <a:tc>
                  <a:txBody>
                    <a:bodyPr/>
                    <a:lstStyle/>
                    <a:p>
                      <a:r>
                        <a:rPr lang="it-IT" sz="1000" smtClean="0"/>
                        <a:t>Sarah Moss</a:t>
                      </a:r>
                      <a:endParaRPr lang="en-GB" sz="1000"/>
                    </a:p>
                  </a:txBody>
                  <a:tcPr/>
                </a:tc>
                <a:tc>
                  <a:txBody>
                    <a:bodyPr/>
                    <a:lstStyle/>
                    <a:p>
                      <a:r>
                        <a:rPr lang="it-IT" sz="1000" smtClean="0"/>
                        <a:t>7</a:t>
                      </a:r>
                      <a:endParaRPr lang="en-GB" sz="1000"/>
                    </a:p>
                  </a:txBody>
                  <a:tcPr/>
                </a:tc>
                <a:extLst>
                  <a:ext uri="{0D108BD9-81ED-4DB2-BD59-A6C34878D82A}">
                    <a16:rowId xmlns:a16="http://schemas.microsoft.com/office/drawing/2014/main" val="285031787"/>
                  </a:ext>
                </a:extLst>
              </a:tr>
              <a:tr h="447053">
                <a:tc>
                  <a:txBody>
                    <a:bodyPr/>
                    <a:lstStyle/>
                    <a:p>
                      <a:r>
                        <a:rPr lang="it-IT" sz="1000" smtClean="0"/>
                        <a:t>10</a:t>
                      </a:r>
                      <a:endParaRPr lang="en-GB" sz="1000"/>
                    </a:p>
                  </a:txBody>
                  <a:tcPr/>
                </a:tc>
                <a:tc>
                  <a:txBody>
                    <a:bodyPr/>
                    <a:lstStyle/>
                    <a:p>
                      <a:r>
                        <a:rPr lang="it-IT" sz="1000" smtClean="0"/>
                        <a:t>Theodore Sider</a:t>
                      </a:r>
                      <a:endParaRPr lang="en-GB" sz="1000"/>
                    </a:p>
                  </a:txBody>
                  <a:tcPr/>
                </a:tc>
                <a:tc>
                  <a:txBody>
                    <a:bodyPr/>
                    <a:lstStyle/>
                    <a:p>
                      <a:r>
                        <a:rPr lang="it-IT" sz="1000" smtClean="0"/>
                        <a:t>7</a:t>
                      </a:r>
                      <a:endParaRPr lang="en-GB" sz="1000"/>
                    </a:p>
                  </a:txBody>
                  <a:tcPr/>
                </a:tc>
                <a:extLst>
                  <a:ext uri="{0D108BD9-81ED-4DB2-BD59-A6C34878D82A}">
                    <a16:rowId xmlns:a16="http://schemas.microsoft.com/office/drawing/2014/main" val="1619670669"/>
                  </a:ext>
                </a:extLst>
              </a:tr>
              <a:tr h="418395">
                <a:tc>
                  <a:txBody>
                    <a:bodyPr/>
                    <a:lstStyle/>
                    <a:p>
                      <a:r>
                        <a:rPr lang="it-IT" sz="1000" smtClean="0"/>
                        <a:t>11</a:t>
                      </a:r>
                      <a:endParaRPr lang="en-GB" sz="1000"/>
                    </a:p>
                  </a:txBody>
                  <a:tcPr/>
                </a:tc>
                <a:tc>
                  <a:txBody>
                    <a:bodyPr/>
                    <a:lstStyle/>
                    <a:p>
                      <a:r>
                        <a:rPr lang="it-IT" sz="1000" smtClean="0"/>
                        <a:t>David</a:t>
                      </a:r>
                      <a:r>
                        <a:rPr lang="it-IT" sz="1000" baseline="0" smtClean="0"/>
                        <a:t> Enoch</a:t>
                      </a:r>
                      <a:endParaRPr lang="en-GB" sz="1000"/>
                    </a:p>
                  </a:txBody>
                  <a:tcPr/>
                </a:tc>
                <a:tc>
                  <a:txBody>
                    <a:bodyPr/>
                    <a:lstStyle/>
                    <a:p>
                      <a:r>
                        <a:rPr lang="it-IT" sz="1000" smtClean="0"/>
                        <a:t>7</a:t>
                      </a:r>
                      <a:endParaRPr lang="en-GB" sz="1000"/>
                    </a:p>
                  </a:txBody>
                  <a:tcPr/>
                </a:tc>
                <a:extLst>
                  <a:ext uri="{0D108BD9-81ED-4DB2-BD59-A6C34878D82A}">
                    <a16:rowId xmlns:a16="http://schemas.microsoft.com/office/drawing/2014/main" val="732137751"/>
                  </a:ext>
                </a:extLst>
              </a:tr>
              <a:tr h="447053">
                <a:tc>
                  <a:txBody>
                    <a:bodyPr/>
                    <a:lstStyle/>
                    <a:p>
                      <a:r>
                        <a:rPr lang="it-IT" sz="1000" smtClean="0"/>
                        <a:t>12</a:t>
                      </a:r>
                      <a:endParaRPr lang="en-GB" sz="1000"/>
                    </a:p>
                  </a:txBody>
                  <a:tcPr/>
                </a:tc>
                <a:tc>
                  <a:txBody>
                    <a:bodyPr/>
                    <a:lstStyle/>
                    <a:p>
                      <a:r>
                        <a:rPr lang="it-IT" sz="1000" smtClean="0"/>
                        <a:t>Duncan Prtichard</a:t>
                      </a:r>
                      <a:endParaRPr lang="en-GB" sz="1000"/>
                    </a:p>
                  </a:txBody>
                  <a:tcPr/>
                </a:tc>
                <a:tc>
                  <a:txBody>
                    <a:bodyPr/>
                    <a:lstStyle/>
                    <a:p>
                      <a:r>
                        <a:rPr lang="it-IT" sz="1000" smtClean="0"/>
                        <a:t>7</a:t>
                      </a:r>
                      <a:endParaRPr lang="en-GB" sz="1000"/>
                    </a:p>
                  </a:txBody>
                  <a:tcPr/>
                </a:tc>
                <a:extLst>
                  <a:ext uri="{0D108BD9-81ED-4DB2-BD59-A6C34878D82A}">
                    <a16:rowId xmlns:a16="http://schemas.microsoft.com/office/drawing/2014/main" val="2096852649"/>
                  </a:ext>
                </a:extLst>
              </a:tr>
              <a:tr h="447053">
                <a:tc>
                  <a:txBody>
                    <a:bodyPr/>
                    <a:lstStyle/>
                    <a:p>
                      <a:r>
                        <a:rPr lang="it-IT" sz="1000" smtClean="0"/>
                        <a:t>13</a:t>
                      </a:r>
                      <a:endParaRPr lang="en-GB" sz="1000"/>
                    </a:p>
                  </a:txBody>
                  <a:tcPr/>
                </a:tc>
                <a:tc>
                  <a:txBody>
                    <a:bodyPr/>
                    <a:lstStyle/>
                    <a:p>
                      <a:r>
                        <a:rPr lang="it-IT" sz="1000" smtClean="0"/>
                        <a:t>John Hawthorne</a:t>
                      </a:r>
                      <a:endParaRPr lang="en-GB" sz="1000"/>
                    </a:p>
                  </a:txBody>
                  <a:tcPr/>
                </a:tc>
                <a:tc>
                  <a:txBody>
                    <a:bodyPr/>
                    <a:lstStyle/>
                    <a:p>
                      <a:r>
                        <a:rPr lang="it-IT" sz="1000" smtClean="0"/>
                        <a:t>7</a:t>
                      </a:r>
                      <a:endParaRPr lang="en-GB" sz="1000"/>
                    </a:p>
                  </a:txBody>
                  <a:tcPr/>
                </a:tc>
                <a:extLst>
                  <a:ext uri="{0D108BD9-81ED-4DB2-BD59-A6C34878D82A}">
                    <a16:rowId xmlns:a16="http://schemas.microsoft.com/office/drawing/2014/main" val="1314609787"/>
                  </a:ext>
                </a:extLst>
              </a:tr>
              <a:tr h="418395">
                <a:tc>
                  <a:txBody>
                    <a:bodyPr/>
                    <a:lstStyle/>
                    <a:p>
                      <a:r>
                        <a:rPr lang="it-IT" sz="1000" smtClean="0"/>
                        <a:t>14</a:t>
                      </a:r>
                      <a:endParaRPr lang="en-GB" sz="1000"/>
                    </a:p>
                  </a:txBody>
                  <a:tcPr/>
                </a:tc>
                <a:tc>
                  <a:txBody>
                    <a:bodyPr/>
                    <a:lstStyle/>
                    <a:p>
                      <a:r>
                        <a:rPr lang="it-IT" sz="1000" smtClean="0"/>
                        <a:t>Tyler</a:t>
                      </a:r>
                      <a:r>
                        <a:rPr lang="it-IT" sz="1000" baseline="0" smtClean="0"/>
                        <a:t> Burge</a:t>
                      </a:r>
                      <a:endParaRPr lang="en-GB" sz="1000"/>
                    </a:p>
                  </a:txBody>
                  <a:tcPr/>
                </a:tc>
                <a:tc>
                  <a:txBody>
                    <a:bodyPr/>
                    <a:lstStyle/>
                    <a:p>
                      <a:r>
                        <a:rPr lang="it-IT" sz="1000" smtClean="0"/>
                        <a:t>7</a:t>
                      </a:r>
                      <a:endParaRPr lang="en-GB" sz="1000"/>
                    </a:p>
                  </a:txBody>
                  <a:tcPr/>
                </a:tc>
                <a:extLst>
                  <a:ext uri="{0D108BD9-81ED-4DB2-BD59-A6C34878D82A}">
                    <a16:rowId xmlns:a16="http://schemas.microsoft.com/office/drawing/2014/main" val="2482427969"/>
                  </a:ext>
                </a:extLst>
              </a:tr>
              <a:tr h="418395">
                <a:tc>
                  <a:txBody>
                    <a:bodyPr/>
                    <a:lstStyle/>
                    <a:p>
                      <a:r>
                        <a:rPr lang="it-IT" sz="1000" smtClean="0"/>
                        <a:t>15</a:t>
                      </a:r>
                      <a:endParaRPr lang="en-GB" sz="1000"/>
                    </a:p>
                  </a:txBody>
                  <a:tcPr/>
                </a:tc>
                <a:tc>
                  <a:txBody>
                    <a:bodyPr/>
                    <a:lstStyle/>
                    <a:p>
                      <a:r>
                        <a:rPr lang="it-IT" sz="1000" smtClean="0"/>
                        <a:t>Guy Kahane</a:t>
                      </a:r>
                      <a:endParaRPr lang="en-GB" sz="1000"/>
                    </a:p>
                  </a:txBody>
                  <a:tcPr/>
                </a:tc>
                <a:tc>
                  <a:txBody>
                    <a:bodyPr/>
                    <a:lstStyle/>
                    <a:p>
                      <a:r>
                        <a:rPr lang="it-IT" sz="1000" smtClean="0"/>
                        <a:t>7</a:t>
                      </a:r>
                      <a:endParaRPr lang="en-GB" sz="1000"/>
                    </a:p>
                  </a:txBody>
                  <a:tcPr/>
                </a:tc>
                <a:extLst>
                  <a:ext uri="{0D108BD9-81ED-4DB2-BD59-A6C34878D82A}">
                    <a16:rowId xmlns:a16="http://schemas.microsoft.com/office/drawing/2014/main" val="1208639510"/>
                  </a:ext>
                </a:extLst>
              </a:tr>
              <a:tr h="447053">
                <a:tc>
                  <a:txBody>
                    <a:bodyPr/>
                    <a:lstStyle/>
                    <a:p>
                      <a:r>
                        <a:rPr lang="it-IT" sz="1000" smtClean="0"/>
                        <a:t>16</a:t>
                      </a:r>
                      <a:endParaRPr lang="en-GB" sz="1000"/>
                    </a:p>
                  </a:txBody>
                  <a:tcPr/>
                </a:tc>
                <a:tc>
                  <a:txBody>
                    <a:bodyPr/>
                    <a:lstStyle/>
                    <a:p>
                      <a:r>
                        <a:rPr lang="it-IT" sz="1000" smtClean="0"/>
                        <a:t>Mirian Schoenfield</a:t>
                      </a:r>
                      <a:endParaRPr lang="en-GB" sz="1000"/>
                    </a:p>
                  </a:txBody>
                  <a:tcPr/>
                </a:tc>
                <a:tc>
                  <a:txBody>
                    <a:bodyPr/>
                    <a:lstStyle/>
                    <a:p>
                      <a:r>
                        <a:rPr lang="it-IT" sz="1000" smtClean="0"/>
                        <a:t>7</a:t>
                      </a:r>
                      <a:endParaRPr lang="en-GB" sz="1000"/>
                    </a:p>
                  </a:txBody>
                  <a:tcPr/>
                </a:tc>
                <a:extLst>
                  <a:ext uri="{0D108BD9-81ED-4DB2-BD59-A6C34878D82A}">
                    <a16:rowId xmlns:a16="http://schemas.microsoft.com/office/drawing/2014/main" val="3560808224"/>
                  </a:ext>
                </a:extLst>
              </a:tr>
              <a:tr h="447053">
                <a:tc>
                  <a:txBody>
                    <a:bodyPr/>
                    <a:lstStyle/>
                    <a:p>
                      <a:r>
                        <a:rPr lang="it-IT" sz="1000" smtClean="0"/>
                        <a:t>17</a:t>
                      </a:r>
                      <a:endParaRPr lang="en-GB" sz="1000"/>
                    </a:p>
                  </a:txBody>
                  <a:tcPr/>
                </a:tc>
                <a:tc>
                  <a:txBody>
                    <a:bodyPr/>
                    <a:lstStyle/>
                    <a:p>
                      <a:r>
                        <a:rPr lang="it-IT" sz="1000" smtClean="0"/>
                        <a:t>Shaun Nichols</a:t>
                      </a:r>
                      <a:endParaRPr lang="en-GB" sz="1000"/>
                    </a:p>
                  </a:txBody>
                  <a:tcPr/>
                </a:tc>
                <a:tc>
                  <a:txBody>
                    <a:bodyPr/>
                    <a:lstStyle/>
                    <a:p>
                      <a:r>
                        <a:rPr lang="it-IT" sz="1000" smtClean="0"/>
                        <a:t>7</a:t>
                      </a:r>
                      <a:endParaRPr lang="en-GB" sz="1000"/>
                    </a:p>
                  </a:txBody>
                  <a:tcPr/>
                </a:tc>
                <a:extLst>
                  <a:ext uri="{0D108BD9-81ED-4DB2-BD59-A6C34878D82A}">
                    <a16:rowId xmlns:a16="http://schemas.microsoft.com/office/drawing/2014/main" val="31432173"/>
                  </a:ext>
                </a:extLst>
              </a:tr>
            </a:tbl>
          </a:graphicData>
        </a:graphic>
      </p:graphicFrame>
    </p:spTree>
    <p:extLst>
      <p:ext uri="{BB962C8B-B14F-4D97-AF65-F5344CB8AC3E}">
        <p14:creationId xmlns:p14="http://schemas.microsoft.com/office/powerpoint/2010/main" val="36453787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46111" y="452718"/>
            <a:ext cx="10927053" cy="1400530"/>
          </a:xfrm>
        </p:spPr>
        <p:txBody>
          <a:bodyPr/>
          <a:lstStyle/>
          <a:p>
            <a:r>
              <a:rPr lang="it-IT" b="1" smtClean="0"/>
              <a:t>RESULTS:</a:t>
            </a:r>
            <a:br>
              <a:rPr lang="it-IT" b="1" smtClean="0"/>
            </a:br>
            <a:r>
              <a:rPr lang="it-IT" sz="2800" b="1" smtClean="0"/>
              <a:t>1.2 Most productive institutions and their geography</a:t>
            </a:r>
            <a:r>
              <a:rPr lang="it-IT" b="1" smtClean="0"/>
              <a:t/>
            </a:r>
            <a:br>
              <a:rPr lang="it-IT" b="1" smtClean="0"/>
            </a:br>
            <a:endParaRPr lang="en-GB" b="1"/>
          </a:p>
        </p:txBody>
      </p:sp>
      <p:pic>
        <p:nvPicPr>
          <p:cNvPr id="4" name="Segnaposto contenut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1455" y="1853248"/>
            <a:ext cx="7647710" cy="4784436"/>
          </a:xfrm>
        </p:spPr>
      </p:pic>
    </p:spTree>
    <p:extLst>
      <p:ext uri="{BB962C8B-B14F-4D97-AF65-F5344CB8AC3E}">
        <p14:creationId xmlns:p14="http://schemas.microsoft.com/office/powerpoint/2010/main" val="41428496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46111" y="452718"/>
            <a:ext cx="11321300" cy="1400530"/>
          </a:xfrm>
        </p:spPr>
        <p:txBody>
          <a:bodyPr/>
          <a:lstStyle/>
          <a:p>
            <a:r>
              <a:rPr lang="it-IT" b="1" smtClean="0"/>
              <a:t>RESULTS:</a:t>
            </a:r>
            <a:br>
              <a:rPr lang="it-IT" b="1" smtClean="0"/>
            </a:br>
            <a:r>
              <a:rPr lang="it-IT" sz="2800" b="1" smtClean="0"/>
              <a:t>1.2 Most productive institutions and their geography </a:t>
            </a:r>
            <a:r>
              <a:rPr lang="it-IT" sz="2000" b="1" smtClean="0"/>
              <a:t>(top_istitutions)</a:t>
            </a:r>
            <a:r>
              <a:rPr lang="it-IT" b="1" smtClean="0"/>
              <a:t/>
            </a:r>
            <a:br>
              <a:rPr lang="it-IT" b="1" smtClean="0"/>
            </a:br>
            <a:endParaRPr lang="en-GB" b="1"/>
          </a:p>
        </p:txBody>
      </p:sp>
      <p:graphicFrame>
        <p:nvGraphicFramePr>
          <p:cNvPr id="5" name="Segnaposto contenuto 4"/>
          <p:cNvGraphicFramePr>
            <a:graphicFrameLocks noGrp="1"/>
          </p:cNvGraphicFramePr>
          <p:nvPr>
            <p:ph idx="1"/>
            <p:extLst>
              <p:ext uri="{D42A27DB-BD31-4B8C-83A1-F6EECF244321}">
                <p14:modId xmlns:p14="http://schemas.microsoft.com/office/powerpoint/2010/main" val="2001145163"/>
              </p:ext>
            </p:extLst>
          </p:nvPr>
        </p:nvGraphicFramePr>
        <p:xfrm>
          <a:off x="1706471" y="2227643"/>
          <a:ext cx="9200580" cy="4265517"/>
        </p:xfrm>
        <a:graphic>
          <a:graphicData uri="http://schemas.openxmlformats.org/drawingml/2006/table">
            <a:tbl>
              <a:tblPr firstRow="1" bandRow="1">
                <a:tableStyleId>{5C22544A-7EE6-4342-B048-85BDC9FD1C3A}</a:tableStyleId>
              </a:tblPr>
              <a:tblGrid>
                <a:gridCol w="3066860">
                  <a:extLst>
                    <a:ext uri="{9D8B030D-6E8A-4147-A177-3AD203B41FA5}">
                      <a16:colId xmlns:a16="http://schemas.microsoft.com/office/drawing/2014/main" val="1737022236"/>
                    </a:ext>
                  </a:extLst>
                </a:gridCol>
                <a:gridCol w="3058010">
                  <a:extLst>
                    <a:ext uri="{9D8B030D-6E8A-4147-A177-3AD203B41FA5}">
                      <a16:colId xmlns:a16="http://schemas.microsoft.com/office/drawing/2014/main" val="690936029"/>
                    </a:ext>
                  </a:extLst>
                </a:gridCol>
                <a:gridCol w="3075710">
                  <a:extLst>
                    <a:ext uri="{9D8B030D-6E8A-4147-A177-3AD203B41FA5}">
                      <a16:colId xmlns:a16="http://schemas.microsoft.com/office/drawing/2014/main" val="3480261246"/>
                    </a:ext>
                  </a:extLst>
                </a:gridCol>
              </a:tblGrid>
              <a:tr h="289187">
                <a:tc>
                  <a:txBody>
                    <a:bodyPr/>
                    <a:lstStyle/>
                    <a:p>
                      <a:r>
                        <a:rPr lang="it-IT" sz="1000" b="1" smtClean="0"/>
                        <a:t>Affiliation</a:t>
                      </a:r>
                      <a:r>
                        <a:rPr lang="it-IT" sz="1000" b="1" baseline="0" smtClean="0"/>
                        <a:t> name</a:t>
                      </a:r>
                      <a:endParaRPr lang="en-GB" sz="1000" b="1"/>
                    </a:p>
                  </a:txBody>
                  <a:tcPr/>
                </a:tc>
                <a:tc>
                  <a:txBody>
                    <a:bodyPr/>
                    <a:lstStyle/>
                    <a:p>
                      <a:r>
                        <a:rPr lang="it-IT" sz="1000" smtClean="0"/>
                        <a:t>Affiliation</a:t>
                      </a:r>
                      <a:r>
                        <a:rPr lang="it-IT" sz="1000" baseline="0" smtClean="0"/>
                        <a:t> </a:t>
                      </a:r>
                      <a:r>
                        <a:rPr lang="it-IT" sz="1000" smtClean="0"/>
                        <a:t>country</a:t>
                      </a:r>
                      <a:endParaRPr lang="en-GB" sz="1000"/>
                    </a:p>
                  </a:txBody>
                  <a:tcPr/>
                </a:tc>
                <a:tc>
                  <a:txBody>
                    <a:bodyPr/>
                    <a:lstStyle/>
                    <a:p>
                      <a:r>
                        <a:rPr lang="it-IT" sz="1000" smtClean="0"/>
                        <a:t>N</a:t>
                      </a:r>
                      <a:r>
                        <a:rPr lang="it-IT" sz="1000" baseline="0" smtClean="0"/>
                        <a:t> Articles</a:t>
                      </a:r>
                      <a:endParaRPr lang="en-GB" sz="1000"/>
                    </a:p>
                  </a:txBody>
                  <a:tcPr/>
                </a:tc>
                <a:extLst>
                  <a:ext uri="{0D108BD9-81ED-4DB2-BD59-A6C34878D82A}">
                    <a16:rowId xmlns:a16="http://schemas.microsoft.com/office/drawing/2014/main" val="153753024"/>
                  </a:ext>
                </a:extLst>
              </a:tr>
              <a:tr h="506079">
                <a:tc>
                  <a:txBody>
                    <a:bodyPr/>
                    <a:lstStyle/>
                    <a:p>
                      <a:r>
                        <a:rPr lang="it-IT" sz="1000" b="0" smtClean="0"/>
                        <a:t>Massachussets</a:t>
                      </a:r>
                      <a:r>
                        <a:rPr lang="it-IT" sz="1000" b="0" baseline="0" smtClean="0"/>
                        <a:t> Institute of Technology</a:t>
                      </a:r>
                      <a:endParaRPr lang="en-GB" sz="1000" b="0"/>
                    </a:p>
                  </a:txBody>
                  <a:tcPr/>
                </a:tc>
                <a:tc>
                  <a:txBody>
                    <a:bodyPr/>
                    <a:lstStyle/>
                    <a:p>
                      <a:r>
                        <a:rPr lang="it-IT" sz="1000" smtClean="0"/>
                        <a:t>United States</a:t>
                      </a:r>
                      <a:endParaRPr lang="en-GB" sz="1000"/>
                    </a:p>
                  </a:txBody>
                  <a:tcPr/>
                </a:tc>
                <a:tc>
                  <a:txBody>
                    <a:bodyPr/>
                    <a:lstStyle/>
                    <a:p>
                      <a:r>
                        <a:rPr lang="it-IT" sz="1000" smtClean="0"/>
                        <a:t>46</a:t>
                      </a:r>
                      <a:endParaRPr lang="en-GB" sz="1000"/>
                    </a:p>
                  </a:txBody>
                  <a:tcPr/>
                </a:tc>
                <a:extLst>
                  <a:ext uri="{0D108BD9-81ED-4DB2-BD59-A6C34878D82A}">
                    <a16:rowId xmlns:a16="http://schemas.microsoft.com/office/drawing/2014/main" val="2033572052"/>
                  </a:ext>
                </a:extLst>
              </a:tr>
              <a:tr h="289187">
                <a:tc>
                  <a:txBody>
                    <a:bodyPr/>
                    <a:lstStyle/>
                    <a:p>
                      <a:r>
                        <a:rPr lang="it-IT" sz="1000" smtClean="0"/>
                        <a:t>New York University</a:t>
                      </a:r>
                      <a:endParaRPr lang="en-GB" sz="100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1000" smtClean="0"/>
                        <a:t>United States</a:t>
                      </a:r>
                      <a:endParaRPr lang="en-GB" sz="1000" smtClean="0"/>
                    </a:p>
                  </a:txBody>
                  <a:tcPr/>
                </a:tc>
                <a:tc>
                  <a:txBody>
                    <a:bodyPr/>
                    <a:lstStyle/>
                    <a:p>
                      <a:r>
                        <a:rPr lang="it-IT" sz="1000" smtClean="0"/>
                        <a:t>45</a:t>
                      </a:r>
                      <a:endParaRPr lang="en-GB" sz="1000"/>
                    </a:p>
                  </a:txBody>
                  <a:tcPr/>
                </a:tc>
                <a:extLst>
                  <a:ext uri="{0D108BD9-81ED-4DB2-BD59-A6C34878D82A}">
                    <a16:rowId xmlns:a16="http://schemas.microsoft.com/office/drawing/2014/main" val="2823586183"/>
                  </a:ext>
                </a:extLst>
              </a:tr>
              <a:tr h="289187">
                <a:tc>
                  <a:txBody>
                    <a:bodyPr/>
                    <a:lstStyle/>
                    <a:p>
                      <a:r>
                        <a:rPr lang="it-IT" sz="1000" smtClean="0"/>
                        <a:t>University of Oxford</a:t>
                      </a:r>
                      <a:endParaRPr lang="en-GB" sz="1000"/>
                    </a:p>
                  </a:txBody>
                  <a:tcPr/>
                </a:tc>
                <a:tc>
                  <a:txBody>
                    <a:bodyPr/>
                    <a:lstStyle/>
                    <a:p>
                      <a:r>
                        <a:rPr lang="it-IT" sz="1000" smtClean="0"/>
                        <a:t>United Kingdom</a:t>
                      </a:r>
                      <a:endParaRPr lang="en-GB" sz="1000"/>
                    </a:p>
                  </a:txBody>
                  <a:tcPr/>
                </a:tc>
                <a:tc>
                  <a:txBody>
                    <a:bodyPr/>
                    <a:lstStyle/>
                    <a:p>
                      <a:r>
                        <a:rPr lang="it-IT" sz="1000" smtClean="0"/>
                        <a:t>42</a:t>
                      </a:r>
                      <a:endParaRPr lang="en-GB" sz="1000"/>
                    </a:p>
                  </a:txBody>
                  <a:tcPr/>
                </a:tc>
                <a:extLst>
                  <a:ext uri="{0D108BD9-81ED-4DB2-BD59-A6C34878D82A}">
                    <a16:rowId xmlns:a16="http://schemas.microsoft.com/office/drawing/2014/main" val="4178248600"/>
                  </a:ext>
                </a:extLst>
              </a:tr>
              <a:tr h="289187">
                <a:tc>
                  <a:txBody>
                    <a:bodyPr/>
                    <a:lstStyle/>
                    <a:p>
                      <a:r>
                        <a:rPr lang="it-IT" sz="1000" smtClean="0"/>
                        <a:t>University of Edinburgh</a:t>
                      </a:r>
                      <a:endParaRPr lang="en-GB" sz="100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1000" smtClean="0"/>
                        <a:t>United Kingdom</a:t>
                      </a:r>
                      <a:endParaRPr lang="en-GB" sz="1000" smtClean="0"/>
                    </a:p>
                  </a:txBody>
                  <a:tcPr/>
                </a:tc>
                <a:tc>
                  <a:txBody>
                    <a:bodyPr/>
                    <a:lstStyle/>
                    <a:p>
                      <a:r>
                        <a:rPr lang="it-IT" sz="1000" smtClean="0"/>
                        <a:t>38</a:t>
                      </a:r>
                      <a:endParaRPr lang="en-GB" sz="1000"/>
                    </a:p>
                  </a:txBody>
                  <a:tcPr/>
                </a:tc>
                <a:extLst>
                  <a:ext uri="{0D108BD9-81ED-4DB2-BD59-A6C34878D82A}">
                    <a16:rowId xmlns:a16="http://schemas.microsoft.com/office/drawing/2014/main" val="1266008343"/>
                  </a:ext>
                </a:extLst>
              </a:tr>
              <a:tr h="289187">
                <a:tc>
                  <a:txBody>
                    <a:bodyPr/>
                    <a:lstStyle/>
                    <a:p>
                      <a:r>
                        <a:rPr lang="it-IT" sz="1000" smtClean="0"/>
                        <a:t>University</a:t>
                      </a:r>
                      <a:r>
                        <a:rPr lang="it-IT" sz="1000" baseline="0" smtClean="0"/>
                        <a:t> of Leeds</a:t>
                      </a:r>
                      <a:endParaRPr lang="en-GB" sz="100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1000" smtClean="0"/>
                        <a:t>United Kingdom</a:t>
                      </a:r>
                      <a:endParaRPr lang="en-GB" sz="1000" smtClean="0"/>
                    </a:p>
                  </a:txBody>
                  <a:tcPr/>
                </a:tc>
                <a:tc>
                  <a:txBody>
                    <a:bodyPr/>
                    <a:lstStyle/>
                    <a:p>
                      <a:r>
                        <a:rPr lang="it-IT" sz="1000" smtClean="0"/>
                        <a:t>35</a:t>
                      </a:r>
                      <a:endParaRPr lang="en-GB" sz="1000"/>
                    </a:p>
                  </a:txBody>
                  <a:tcPr/>
                </a:tc>
                <a:extLst>
                  <a:ext uri="{0D108BD9-81ED-4DB2-BD59-A6C34878D82A}">
                    <a16:rowId xmlns:a16="http://schemas.microsoft.com/office/drawing/2014/main" val="371118445"/>
                  </a:ext>
                </a:extLst>
              </a:tr>
              <a:tr h="506079">
                <a:tc>
                  <a:txBody>
                    <a:bodyPr/>
                    <a:lstStyle/>
                    <a:p>
                      <a:r>
                        <a:rPr lang="it-IT" sz="1000" smtClean="0"/>
                        <a:t>University of Southern California</a:t>
                      </a:r>
                      <a:endParaRPr lang="en-GB" sz="100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1000" smtClean="0"/>
                        <a:t>United States</a:t>
                      </a:r>
                      <a:endParaRPr lang="en-GB" sz="1000" smtClean="0"/>
                    </a:p>
                  </a:txBody>
                  <a:tcPr/>
                </a:tc>
                <a:tc>
                  <a:txBody>
                    <a:bodyPr/>
                    <a:lstStyle/>
                    <a:p>
                      <a:r>
                        <a:rPr lang="it-IT" sz="1000" smtClean="0"/>
                        <a:t>34</a:t>
                      </a:r>
                      <a:endParaRPr lang="en-GB" sz="1000"/>
                    </a:p>
                  </a:txBody>
                  <a:tcPr/>
                </a:tc>
                <a:extLst>
                  <a:ext uri="{0D108BD9-81ED-4DB2-BD59-A6C34878D82A}">
                    <a16:rowId xmlns:a16="http://schemas.microsoft.com/office/drawing/2014/main" val="901943856"/>
                  </a:ext>
                </a:extLst>
              </a:tr>
              <a:tr h="506079">
                <a:tc>
                  <a:txBody>
                    <a:bodyPr/>
                    <a:lstStyle/>
                    <a:p>
                      <a:r>
                        <a:rPr lang="it-IT" sz="1000" smtClean="0"/>
                        <a:t>University of Michigan, Ann Arbor</a:t>
                      </a:r>
                      <a:endParaRPr lang="en-GB" sz="100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1000" smtClean="0"/>
                        <a:t>United States</a:t>
                      </a:r>
                      <a:endParaRPr lang="en-GB" sz="1000" smtClean="0"/>
                    </a:p>
                  </a:txBody>
                  <a:tcPr/>
                </a:tc>
                <a:tc>
                  <a:txBody>
                    <a:bodyPr/>
                    <a:lstStyle/>
                    <a:p>
                      <a:r>
                        <a:rPr lang="it-IT" sz="1000" smtClean="0"/>
                        <a:t>33</a:t>
                      </a:r>
                      <a:endParaRPr lang="en-GB" sz="1000"/>
                    </a:p>
                  </a:txBody>
                  <a:tcPr/>
                </a:tc>
                <a:extLst>
                  <a:ext uri="{0D108BD9-81ED-4DB2-BD59-A6C34878D82A}">
                    <a16:rowId xmlns:a16="http://schemas.microsoft.com/office/drawing/2014/main" val="3387769503"/>
                  </a:ext>
                </a:extLst>
              </a:tr>
              <a:tr h="506079">
                <a:tc>
                  <a:txBody>
                    <a:bodyPr/>
                    <a:lstStyle/>
                    <a:p>
                      <a:r>
                        <a:rPr lang="it-IT" sz="1000" smtClean="0"/>
                        <a:t>The University</a:t>
                      </a:r>
                      <a:r>
                        <a:rPr lang="it-IT" sz="1000" baseline="0" smtClean="0"/>
                        <a:t> of North Carolina at Chapel Hill</a:t>
                      </a:r>
                      <a:endParaRPr lang="en-GB" sz="100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1000" smtClean="0"/>
                        <a:t>United States</a:t>
                      </a:r>
                      <a:endParaRPr lang="en-GB" sz="1000" smtClean="0"/>
                    </a:p>
                  </a:txBody>
                  <a:tcPr/>
                </a:tc>
                <a:tc>
                  <a:txBody>
                    <a:bodyPr/>
                    <a:lstStyle/>
                    <a:p>
                      <a:r>
                        <a:rPr lang="it-IT" sz="1000" smtClean="0"/>
                        <a:t>33</a:t>
                      </a:r>
                      <a:endParaRPr lang="en-GB" sz="1000"/>
                    </a:p>
                  </a:txBody>
                  <a:tcPr/>
                </a:tc>
                <a:extLst>
                  <a:ext uri="{0D108BD9-81ED-4DB2-BD59-A6C34878D82A}">
                    <a16:rowId xmlns:a16="http://schemas.microsoft.com/office/drawing/2014/main" val="2262994622"/>
                  </a:ext>
                </a:extLst>
              </a:tr>
              <a:tr h="506079">
                <a:tc>
                  <a:txBody>
                    <a:bodyPr/>
                    <a:lstStyle/>
                    <a:p>
                      <a:r>
                        <a:rPr lang="it-IT" sz="1000" smtClean="0"/>
                        <a:t>Rutgers University-New</a:t>
                      </a:r>
                      <a:r>
                        <a:rPr lang="it-IT" sz="1000" baseline="0" smtClean="0"/>
                        <a:t> Brunswick</a:t>
                      </a:r>
                      <a:endParaRPr lang="en-GB" sz="100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1000" smtClean="0"/>
                        <a:t>United States</a:t>
                      </a:r>
                      <a:endParaRPr lang="en-GB" sz="1000" smtClean="0"/>
                    </a:p>
                  </a:txBody>
                  <a:tcPr/>
                </a:tc>
                <a:tc>
                  <a:txBody>
                    <a:bodyPr/>
                    <a:lstStyle/>
                    <a:p>
                      <a:r>
                        <a:rPr lang="it-IT" sz="1000" smtClean="0"/>
                        <a:t>33</a:t>
                      </a:r>
                      <a:endParaRPr lang="en-GB" sz="1000"/>
                    </a:p>
                  </a:txBody>
                  <a:tcPr/>
                </a:tc>
                <a:extLst>
                  <a:ext uri="{0D108BD9-81ED-4DB2-BD59-A6C34878D82A}">
                    <a16:rowId xmlns:a16="http://schemas.microsoft.com/office/drawing/2014/main" val="1248337362"/>
                  </a:ext>
                </a:extLst>
              </a:tr>
              <a:tr h="289187">
                <a:tc>
                  <a:txBody>
                    <a:bodyPr/>
                    <a:lstStyle/>
                    <a:p>
                      <a:r>
                        <a:rPr lang="it-IT" sz="1000" smtClean="0"/>
                        <a:t>University</a:t>
                      </a:r>
                      <a:r>
                        <a:rPr lang="it-IT" sz="1000" baseline="0" smtClean="0"/>
                        <a:t> of St Andrews</a:t>
                      </a:r>
                      <a:endParaRPr lang="en-GB" sz="100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it-IT" sz="1000" smtClean="0"/>
                        <a:t>United Kingdom</a:t>
                      </a:r>
                      <a:endParaRPr lang="en-GB" sz="1000" smtClean="0"/>
                    </a:p>
                  </a:txBody>
                  <a:tcPr/>
                </a:tc>
                <a:tc>
                  <a:txBody>
                    <a:bodyPr/>
                    <a:lstStyle/>
                    <a:p>
                      <a:r>
                        <a:rPr lang="it-IT" sz="1000" smtClean="0"/>
                        <a:t>32</a:t>
                      </a:r>
                      <a:endParaRPr lang="en-GB" sz="1000"/>
                    </a:p>
                  </a:txBody>
                  <a:tcPr/>
                </a:tc>
                <a:extLst>
                  <a:ext uri="{0D108BD9-81ED-4DB2-BD59-A6C34878D82A}">
                    <a16:rowId xmlns:a16="http://schemas.microsoft.com/office/drawing/2014/main" val="254529713"/>
                  </a:ext>
                </a:extLst>
              </a:tr>
            </a:tbl>
          </a:graphicData>
        </a:graphic>
      </p:graphicFrame>
    </p:spTree>
    <p:extLst>
      <p:ext uri="{BB962C8B-B14F-4D97-AF65-F5344CB8AC3E}">
        <p14:creationId xmlns:p14="http://schemas.microsoft.com/office/powerpoint/2010/main" val="3284094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46111" y="452718"/>
            <a:ext cx="11250325" cy="1400530"/>
          </a:xfrm>
        </p:spPr>
        <p:txBody>
          <a:bodyPr/>
          <a:lstStyle/>
          <a:p>
            <a:r>
              <a:rPr lang="it-IT" sz="4400" b="1"/>
              <a:t>RESULTS:</a:t>
            </a:r>
            <a:r>
              <a:rPr lang="it-IT" b="1"/>
              <a:t/>
            </a:r>
            <a:br>
              <a:rPr lang="it-IT" b="1"/>
            </a:br>
            <a:r>
              <a:rPr lang="it-IT" sz="2800" b="1"/>
              <a:t>2.1 How many informal collaborators does the average analytic philosopher mention?</a:t>
            </a:r>
            <a:endParaRPr lang="en-GB" sz="2800"/>
          </a:p>
        </p:txBody>
      </p:sp>
      <p:pic>
        <p:nvPicPr>
          <p:cNvPr id="4" name="Segnaposto contenut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9456" y="2142836"/>
            <a:ext cx="5686278" cy="4410364"/>
          </a:xfrm>
        </p:spPr>
      </p:pic>
      <p:pic>
        <p:nvPicPr>
          <p:cNvPr id="5" name="Immagin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9127" y="2142836"/>
            <a:ext cx="5850756" cy="4410364"/>
          </a:xfrm>
          <a:prstGeom prst="rect">
            <a:avLst/>
          </a:prstGeom>
        </p:spPr>
      </p:pic>
    </p:spTree>
    <p:extLst>
      <p:ext uri="{BB962C8B-B14F-4D97-AF65-F5344CB8AC3E}">
        <p14:creationId xmlns:p14="http://schemas.microsoft.com/office/powerpoint/2010/main" val="35089757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64584" y="304936"/>
            <a:ext cx="9680144" cy="1400530"/>
          </a:xfrm>
        </p:spPr>
        <p:txBody>
          <a:bodyPr/>
          <a:lstStyle/>
          <a:p>
            <a:r>
              <a:rPr lang="it-IT" b="1" smtClean="0"/>
              <a:t>RESULTS: </a:t>
            </a:r>
            <a:br>
              <a:rPr lang="it-IT" b="1" smtClean="0"/>
            </a:br>
            <a:r>
              <a:rPr lang="it-IT" sz="2800" b="1" smtClean="0"/>
              <a:t>2.2 </a:t>
            </a:r>
            <a:r>
              <a:rPr lang="en-GB" sz="2800" b="1"/>
              <a:t>Is informal collaboration common in </a:t>
            </a:r>
            <a:r>
              <a:rPr lang="en-GB" sz="2800" b="1" smtClean="0"/>
              <a:t>analytic philosophy</a:t>
            </a:r>
            <a:r>
              <a:rPr lang="en-GB" sz="2800" b="1"/>
              <a:t>?</a:t>
            </a:r>
            <a:endParaRPr lang="en-GB" sz="3600" b="1"/>
          </a:p>
        </p:txBody>
      </p:sp>
      <p:pic>
        <p:nvPicPr>
          <p:cNvPr id="4" name="Segnaposto contenut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8037" y="1921164"/>
            <a:ext cx="7952508" cy="4715163"/>
          </a:xfrm>
        </p:spPr>
      </p:pic>
    </p:spTree>
    <p:extLst>
      <p:ext uri="{BB962C8B-B14F-4D97-AF65-F5344CB8AC3E}">
        <p14:creationId xmlns:p14="http://schemas.microsoft.com/office/powerpoint/2010/main" val="5665287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46111" y="452718"/>
            <a:ext cx="10705380" cy="1400530"/>
          </a:xfrm>
        </p:spPr>
        <p:txBody>
          <a:bodyPr/>
          <a:lstStyle/>
          <a:p>
            <a:r>
              <a:rPr lang="it-IT" b="1" smtClean="0"/>
              <a:t>RESULTS: </a:t>
            </a:r>
            <a:br>
              <a:rPr lang="it-IT" b="1" smtClean="0"/>
            </a:br>
            <a:r>
              <a:rPr lang="it-IT" sz="2800" b="1" smtClean="0"/>
              <a:t>3.1</a:t>
            </a:r>
            <a:r>
              <a:rPr lang="it-IT" sz="3600" b="1" smtClean="0"/>
              <a:t> </a:t>
            </a:r>
            <a:r>
              <a:rPr lang="en-GB" sz="2800" b="1" smtClean="0"/>
              <a:t>Who </a:t>
            </a:r>
            <a:r>
              <a:rPr lang="en-GB" sz="2800" b="1"/>
              <a:t>are the most mentioned philosophers?</a:t>
            </a:r>
          </a:p>
        </p:txBody>
      </p:sp>
      <p:pic>
        <p:nvPicPr>
          <p:cNvPr id="4" name="Segnaposto contenut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36800" y="1759842"/>
            <a:ext cx="7481455" cy="4945758"/>
          </a:xfrm>
        </p:spPr>
      </p:pic>
    </p:spTree>
    <p:extLst>
      <p:ext uri="{BB962C8B-B14F-4D97-AF65-F5344CB8AC3E}">
        <p14:creationId xmlns:p14="http://schemas.microsoft.com/office/powerpoint/2010/main" val="25273206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46111" y="452718"/>
            <a:ext cx="11453525" cy="1400530"/>
          </a:xfrm>
        </p:spPr>
        <p:txBody>
          <a:bodyPr/>
          <a:lstStyle/>
          <a:p>
            <a:r>
              <a:rPr lang="it-IT" b="1"/>
              <a:t>RESULTS: </a:t>
            </a:r>
            <a:br>
              <a:rPr lang="it-IT" b="1"/>
            </a:br>
            <a:r>
              <a:rPr lang="it-IT" sz="2800" b="1" smtClean="0"/>
              <a:t>3.1 </a:t>
            </a:r>
            <a:r>
              <a:rPr lang="en-GB" sz="2800" b="1" smtClean="0"/>
              <a:t>Who </a:t>
            </a:r>
            <a:r>
              <a:rPr lang="en-GB" sz="2800" b="1"/>
              <a:t>are the most mentioned philosophers</a:t>
            </a:r>
            <a:r>
              <a:rPr lang="en-GB" sz="2800" b="1" smtClean="0"/>
              <a:t>? </a:t>
            </a:r>
            <a:r>
              <a:rPr lang="en-GB" sz="2000" b="1" smtClean="0"/>
              <a:t>(top_mentioned_phil)</a:t>
            </a:r>
            <a:endParaRPr lang="en-GB" sz="3600"/>
          </a:p>
        </p:txBody>
      </p:sp>
      <p:graphicFrame>
        <p:nvGraphicFramePr>
          <p:cNvPr id="4" name="Segnaposto contenuto 3"/>
          <p:cNvGraphicFramePr>
            <a:graphicFrameLocks noGrp="1"/>
          </p:cNvGraphicFramePr>
          <p:nvPr>
            <p:ph idx="1"/>
            <p:extLst>
              <p:ext uri="{D42A27DB-BD31-4B8C-83A1-F6EECF244321}">
                <p14:modId xmlns:p14="http://schemas.microsoft.com/office/powerpoint/2010/main" val="139606979"/>
              </p:ext>
            </p:extLst>
          </p:nvPr>
        </p:nvGraphicFramePr>
        <p:xfrm>
          <a:off x="1297276" y="2089584"/>
          <a:ext cx="8947150" cy="4079240"/>
        </p:xfrm>
        <a:graphic>
          <a:graphicData uri="http://schemas.openxmlformats.org/drawingml/2006/table">
            <a:tbl>
              <a:tblPr firstRow="1" bandRow="1">
                <a:tableStyleId>{5C22544A-7EE6-4342-B048-85BDC9FD1C3A}</a:tableStyleId>
              </a:tblPr>
              <a:tblGrid>
                <a:gridCol w="4473575">
                  <a:extLst>
                    <a:ext uri="{9D8B030D-6E8A-4147-A177-3AD203B41FA5}">
                      <a16:colId xmlns:a16="http://schemas.microsoft.com/office/drawing/2014/main" val="2421114759"/>
                    </a:ext>
                  </a:extLst>
                </a:gridCol>
                <a:gridCol w="4473575">
                  <a:extLst>
                    <a:ext uri="{9D8B030D-6E8A-4147-A177-3AD203B41FA5}">
                      <a16:colId xmlns:a16="http://schemas.microsoft.com/office/drawing/2014/main" val="1457947290"/>
                    </a:ext>
                  </a:extLst>
                </a:gridCol>
              </a:tblGrid>
              <a:tr h="370840">
                <a:tc>
                  <a:txBody>
                    <a:bodyPr/>
                    <a:lstStyle/>
                    <a:p>
                      <a:r>
                        <a:rPr lang="it-IT" b="1" smtClean="0"/>
                        <a:t>Philosopher</a:t>
                      </a:r>
                      <a:endParaRPr lang="en-GB" b="1"/>
                    </a:p>
                  </a:txBody>
                  <a:tcPr/>
                </a:tc>
                <a:tc>
                  <a:txBody>
                    <a:bodyPr/>
                    <a:lstStyle/>
                    <a:p>
                      <a:r>
                        <a:rPr lang="it-IT" smtClean="0"/>
                        <a:t>N</a:t>
                      </a:r>
                      <a:r>
                        <a:rPr lang="it-IT" baseline="0" smtClean="0"/>
                        <a:t> mentions</a:t>
                      </a:r>
                      <a:endParaRPr lang="en-GB"/>
                    </a:p>
                  </a:txBody>
                  <a:tcPr/>
                </a:tc>
                <a:extLst>
                  <a:ext uri="{0D108BD9-81ED-4DB2-BD59-A6C34878D82A}">
                    <a16:rowId xmlns:a16="http://schemas.microsoft.com/office/drawing/2014/main" val="1918837360"/>
                  </a:ext>
                </a:extLst>
              </a:tr>
              <a:tr h="370840">
                <a:tc>
                  <a:txBody>
                    <a:bodyPr/>
                    <a:lstStyle/>
                    <a:p>
                      <a:r>
                        <a:rPr lang="it-IT" smtClean="0"/>
                        <a:t>David</a:t>
                      </a:r>
                      <a:r>
                        <a:rPr lang="it-IT" baseline="0" smtClean="0"/>
                        <a:t> J. Chalmers</a:t>
                      </a:r>
                      <a:endParaRPr lang="en-GB"/>
                    </a:p>
                  </a:txBody>
                  <a:tcPr/>
                </a:tc>
                <a:tc>
                  <a:txBody>
                    <a:bodyPr/>
                    <a:lstStyle/>
                    <a:p>
                      <a:r>
                        <a:rPr lang="it-IT" smtClean="0"/>
                        <a:t>103</a:t>
                      </a:r>
                      <a:endParaRPr lang="en-GB"/>
                    </a:p>
                  </a:txBody>
                  <a:tcPr/>
                </a:tc>
                <a:extLst>
                  <a:ext uri="{0D108BD9-81ED-4DB2-BD59-A6C34878D82A}">
                    <a16:rowId xmlns:a16="http://schemas.microsoft.com/office/drawing/2014/main" val="3776346233"/>
                  </a:ext>
                </a:extLst>
              </a:tr>
              <a:tr h="370840">
                <a:tc>
                  <a:txBody>
                    <a:bodyPr/>
                    <a:lstStyle/>
                    <a:p>
                      <a:r>
                        <a:rPr lang="it-IT" smtClean="0"/>
                        <a:t>Timothy</a:t>
                      </a:r>
                      <a:r>
                        <a:rPr lang="it-IT" baseline="0" smtClean="0"/>
                        <a:t> Williamson</a:t>
                      </a:r>
                      <a:endParaRPr lang="en-GB"/>
                    </a:p>
                  </a:txBody>
                  <a:tcPr/>
                </a:tc>
                <a:tc>
                  <a:txBody>
                    <a:bodyPr/>
                    <a:lstStyle/>
                    <a:p>
                      <a:r>
                        <a:rPr lang="it-IT" smtClean="0"/>
                        <a:t>75</a:t>
                      </a:r>
                      <a:endParaRPr lang="en-GB"/>
                    </a:p>
                  </a:txBody>
                  <a:tcPr/>
                </a:tc>
                <a:extLst>
                  <a:ext uri="{0D108BD9-81ED-4DB2-BD59-A6C34878D82A}">
                    <a16:rowId xmlns:a16="http://schemas.microsoft.com/office/drawing/2014/main" val="1900605521"/>
                  </a:ext>
                </a:extLst>
              </a:tr>
              <a:tr h="370840">
                <a:tc>
                  <a:txBody>
                    <a:bodyPr/>
                    <a:lstStyle/>
                    <a:p>
                      <a:r>
                        <a:rPr lang="it-IT" smtClean="0"/>
                        <a:t>Jonthan Schaffer</a:t>
                      </a:r>
                      <a:endParaRPr lang="en-GB"/>
                    </a:p>
                  </a:txBody>
                  <a:tcPr/>
                </a:tc>
                <a:tc>
                  <a:txBody>
                    <a:bodyPr/>
                    <a:lstStyle/>
                    <a:p>
                      <a:r>
                        <a:rPr lang="it-IT" smtClean="0"/>
                        <a:t>70</a:t>
                      </a:r>
                      <a:endParaRPr lang="en-GB"/>
                    </a:p>
                  </a:txBody>
                  <a:tcPr/>
                </a:tc>
                <a:extLst>
                  <a:ext uri="{0D108BD9-81ED-4DB2-BD59-A6C34878D82A}">
                    <a16:rowId xmlns:a16="http://schemas.microsoft.com/office/drawing/2014/main" val="1420713310"/>
                  </a:ext>
                </a:extLst>
              </a:tr>
              <a:tr h="370840">
                <a:tc>
                  <a:txBody>
                    <a:bodyPr/>
                    <a:lstStyle/>
                    <a:p>
                      <a:r>
                        <a:rPr lang="it-IT" smtClean="0"/>
                        <a:t>John Hawthorne</a:t>
                      </a:r>
                      <a:endParaRPr lang="en-GB"/>
                    </a:p>
                  </a:txBody>
                  <a:tcPr/>
                </a:tc>
                <a:tc>
                  <a:txBody>
                    <a:bodyPr/>
                    <a:lstStyle/>
                    <a:p>
                      <a:r>
                        <a:rPr lang="it-IT" smtClean="0"/>
                        <a:t>68</a:t>
                      </a:r>
                      <a:endParaRPr lang="en-GB"/>
                    </a:p>
                  </a:txBody>
                  <a:tcPr/>
                </a:tc>
                <a:extLst>
                  <a:ext uri="{0D108BD9-81ED-4DB2-BD59-A6C34878D82A}">
                    <a16:rowId xmlns:a16="http://schemas.microsoft.com/office/drawing/2014/main" val="2244195336"/>
                  </a:ext>
                </a:extLst>
              </a:tr>
              <a:tr h="370840">
                <a:tc>
                  <a:txBody>
                    <a:bodyPr/>
                    <a:lstStyle/>
                    <a:p>
                      <a:r>
                        <a:rPr lang="it-IT" smtClean="0"/>
                        <a:t>James Pryor</a:t>
                      </a:r>
                      <a:endParaRPr lang="en-GB"/>
                    </a:p>
                  </a:txBody>
                  <a:tcPr/>
                </a:tc>
                <a:tc>
                  <a:txBody>
                    <a:bodyPr/>
                    <a:lstStyle/>
                    <a:p>
                      <a:r>
                        <a:rPr lang="it-IT" smtClean="0"/>
                        <a:t>67</a:t>
                      </a:r>
                      <a:endParaRPr lang="en-GB"/>
                    </a:p>
                  </a:txBody>
                  <a:tcPr/>
                </a:tc>
                <a:extLst>
                  <a:ext uri="{0D108BD9-81ED-4DB2-BD59-A6C34878D82A}">
                    <a16:rowId xmlns:a16="http://schemas.microsoft.com/office/drawing/2014/main" val="2125669499"/>
                  </a:ext>
                </a:extLst>
              </a:tr>
              <a:tr h="370840">
                <a:tc>
                  <a:txBody>
                    <a:bodyPr/>
                    <a:lstStyle/>
                    <a:p>
                      <a:r>
                        <a:rPr lang="it-IT" smtClean="0"/>
                        <a:t>Cian</a:t>
                      </a:r>
                      <a:r>
                        <a:rPr lang="it-IT" baseline="0" smtClean="0"/>
                        <a:t> Dorr</a:t>
                      </a:r>
                      <a:endParaRPr lang="en-GB"/>
                    </a:p>
                  </a:txBody>
                  <a:tcPr/>
                </a:tc>
                <a:tc>
                  <a:txBody>
                    <a:bodyPr/>
                    <a:lstStyle/>
                    <a:p>
                      <a:r>
                        <a:rPr lang="it-IT" smtClean="0"/>
                        <a:t>66</a:t>
                      </a:r>
                      <a:endParaRPr lang="en-GB"/>
                    </a:p>
                  </a:txBody>
                  <a:tcPr/>
                </a:tc>
                <a:extLst>
                  <a:ext uri="{0D108BD9-81ED-4DB2-BD59-A6C34878D82A}">
                    <a16:rowId xmlns:a16="http://schemas.microsoft.com/office/drawing/2014/main" val="4128237248"/>
                  </a:ext>
                </a:extLst>
              </a:tr>
              <a:tr h="370840">
                <a:tc>
                  <a:txBody>
                    <a:bodyPr/>
                    <a:lstStyle/>
                    <a:p>
                      <a:r>
                        <a:rPr lang="it-IT" smtClean="0"/>
                        <a:t>Theodore</a:t>
                      </a:r>
                      <a:r>
                        <a:rPr lang="it-IT" baseline="0" smtClean="0"/>
                        <a:t> Sider</a:t>
                      </a:r>
                      <a:endParaRPr lang="en-GB"/>
                    </a:p>
                  </a:txBody>
                  <a:tcPr/>
                </a:tc>
                <a:tc>
                  <a:txBody>
                    <a:bodyPr/>
                    <a:lstStyle/>
                    <a:p>
                      <a:r>
                        <a:rPr lang="it-IT" smtClean="0"/>
                        <a:t>60</a:t>
                      </a:r>
                      <a:endParaRPr lang="en-GB"/>
                    </a:p>
                  </a:txBody>
                  <a:tcPr/>
                </a:tc>
                <a:extLst>
                  <a:ext uri="{0D108BD9-81ED-4DB2-BD59-A6C34878D82A}">
                    <a16:rowId xmlns:a16="http://schemas.microsoft.com/office/drawing/2014/main" val="22006839"/>
                  </a:ext>
                </a:extLst>
              </a:tr>
              <a:tr h="370840">
                <a:tc>
                  <a:txBody>
                    <a:bodyPr/>
                    <a:lstStyle/>
                    <a:p>
                      <a:r>
                        <a:rPr lang="it-IT" smtClean="0"/>
                        <a:t>Jason Stanley</a:t>
                      </a:r>
                      <a:endParaRPr lang="en-GB"/>
                    </a:p>
                  </a:txBody>
                  <a:tcPr/>
                </a:tc>
                <a:tc>
                  <a:txBody>
                    <a:bodyPr/>
                    <a:lstStyle/>
                    <a:p>
                      <a:r>
                        <a:rPr lang="it-IT" smtClean="0"/>
                        <a:t>56</a:t>
                      </a:r>
                      <a:endParaRPr lang="en-GB"/>
                    </a:p>
                  </a:txBody>
                  <a:tcPr/>
                </a:tc>
                <a:extLst>
                  <a:ext uri="{0D108BD9-81ED-4DB2-BD59-A6C34878D82A}">
                    <a16:rowId xmlns:a16="http://schemas.microsoft.com/office/drawing/2014/main" val="1248456815"/>
                  </a:ext>
                </a:extLst>
              </a:tr>
              <a:tr h="370840">
                <a:tc>
                  <a:txBody>
                    <a:bodyPr/>
                    <a:lstStyle/>
                    <a:p>
                      <a:r>
                        <a:rPr lang="it-IT" smtClean="0"/>
                        <a:t>Robert Stalnaker</a:t>
                      </a:r>
                      <a:endParaRPr lang="en-GB"/>
                    </a:p>
                  </a:txBody>
                  <a:tcPr/>
                </a:tc>
                <a:tc>
                  <a:txBody>
                    <a:bodyPr/>
                    <a:lstStyle/>
                    <a:p>
                      <a:r>
                        <a:rPr lang="it-IT" smtClean="0"/>
                        <a:t>55</a:t>
                      </a:r>
                      <a:endParaRPr lang="en-GB"/>
                    </a:p>
                  </a:txBody>
                  <a:tcPr/>
                </a:tc>
                <a:extLst>
                  <a:ext uri="{0D108BD9-81ED-4DB2-BD59-A6C34878D82A}">
                    <a16:rowId xmlns:a16="http://schemas.microsoft.com/office/drawing/2014/main" val="3091137389"/>
                  </a:ext>
                </a:extLst>
              </a:tr>
              <a:tr h="370840">
                <a:tc>
                  <a:txBody>
                    <a:bodyPr/>
                    <a:lstStyle/>
                    <a:p>
                      <a:r>
                        <a:rPr lang="it-IT" smtClean="0"/>
                        <a:t>Ernest Sosa</a:t>
                      </a:r>
                      <a:endParaRPr lang="en-GB"/>
                    </a:p>
                  </a:txBody>
                  <a:tcPr/>
                </a:tc>
                <a:tc>
                  <a:txBody>
                    <a:bodyPr/>
                    <a:lstStyle/>
                    <a:p>
                      <a:r>
                        <a:rPr lang="it-IT" smtClean="0"/>
                        <a:t>53</a:t>
                      </a:r>
                      <a:endParaRPr lang="en-GB"/>
                    </a:p>
                  </a:txBody>
                  <a:tcPr/>
                </a:tc>
                <a:extLst>
                  <a:ext uri="{0D108BD9-81ED-4DB2-BD59-A6C34878D82A}">
                    <a16:rowId xmlns:a16="http://schemas.microsoft.com/office/drawing/2014/main" val="4119962432"/>
                  </a:ext>
                </a:extLst>
              </a:tr>
            </a:tbl>
          </a:graphicData>
        </a:graphic>
      </p:graphicFrame>
    </p:spTree>
    <p:extLst>
      <p:ext uri="{BB962C8B-B14F-4D97-AF65-F5344CB8AC3E}">
        <p14:creationId xmlns:p14="http://schemas.microsoft.com/office/powerpoint/2010/main" val="24394137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396729" y="184863"/>
            <a:ext cx="10954762" cy="1400530"/>
          </a:xfrm>
        </p:spPr>
        <p:txBody>
          <a:bodyPr/>
          <a:lstStyle/>
          <a:p>
            <a:r>
              <a:rPr lang="it-IT" b="1" smtClean="0"/>
              <a:t>RESULTS:</a:t>
            </a:r>
            <a:br>
              <a:rPr lang="it-IT" b="1" smtClean="0"/>
            </a:br>
            <a:r>
              <a:rPr lang="it-IT" sz="2400" b="1" smtClean="0"/>
              <a:t>3.2 </a:t>
            </a:r>
            <a:r>
              <a:rPr lang="en-GB" sz="2400" b="1"/>
              <a:t>Who are the most mentioned within each sub-area?</a:t>
            </a:r>
            <a:endParaRPr lang="en-GB" sz="3200" b="1"/>
          </a:p>
        </p:txBody>
      </p:sp>
      <p:pic>
        <p:nvPicPr>
          <p:cNvPr id="4" name="Segnaposto contenut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1352558"/>
            <a:ext cx="9291782" cy="5389987"/>
          </a:xfrm>
        </p:spPr>
      </p:pic>
    </p:spTree>
    <p:extLst>
      <p:ext uri="{BB962C8B-B14F-4D97-AF65-F5344CB8AC3E}">
        <p14:creationId xmlns:p14="http://schemas.microsoft.com/office/powerpoint/2010/main" val="31808858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46111" y="452718"/>
            <a:ext cx="10160434" cy="1400530"/>
          </a:xfrm>
        </p:spPr>
        <p:txBody>
          <a:bodyPr/>
          <a:lstStyle/>
          <a:p>
            <a:r>
              <a:rPr lang="it-IT" b="1" smtClean="0"/>
              <a:t>RESULTS:</a:t>
            </a:r>
            <a:br>
              <a:rPr lang="it-IT" b="1" smtClean="0"/>
            </a:br>
            <a:r>
              <a:rPr lang="it-IT" sz="2800" b="1" smtClean="0"/>
              <a:t>3.3 </a:t>
            </a:r>
            <a:r>
              <a:rPr lang="en-GB" sz="2800" b="1"/>
              <a:t>How are mentions distributed among the </a:t>
            </a:r>
            <a:r>
              <a:rPr lang="en-GB" sz="2800" b="1" smtClean="0"/>
              <a:t>community</a:t>
            </a:r>
            <a:r>
              <a:rPr lang="en-GB" sz="2800" b="1"/>
              <a:t>?</a:t>
            </a:r>
            <a:endParaRPr lang="en-GB" b="1"/>
          </a:p>
        </p:txBody>
      </p:sp>
      <p:pic>
        <p:nvPicPr>
          <p:cNvPr id="4" name="Segnaposto contenut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48873" y="1681017"/>
            <a:ext cx="8377382" cy="4996873"/>
          </a:xfrm>
        </p:spPr>
      </p:pic>
    </p:spTree>
    <p:extLst>
      <p:ext uri="{BB962C8B-B14F-4D97-AF65-F5344CB8AC3E}">
        <p14:creationId xmlns:p14="http://schemas.microsoft.com/office/powerpoint/2010/main" val="24432016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46111" y="452718"/>
            <a:ext cx="10899344" cy="1400530"/>
          </a:xfrm>
        </p:spPr>
        <p:txBody>
          <a:bodyPr/>
          <a:lstStyle/>
          <a:p>
            <a:r>
              <a:rPr lang="it-IT" b="1" smtClean="0"/>
              <a:t>RESULTS:</a:t>
            </a:r>
            <a:br>
              <a:rPr lang="it-IT" b="1" smtClean="0"/>
            </a:br>
            <a:r>
              <a:rPr lang="it-IT" sz="2800" b="1" smtClean="0"/>
              <a:t>3.4 </a:t>
            </a:r>
            <a:r>
              <a:rPr lang="en-GB" sz="2800" b="1"/>
              <a:t>Are mentions correlated with </a:t>
            </a:r>
            <a:r>
              <a:rPr lang="en-GB" sz="2800" b="1" smtClean="0"/>
              <a:t>other prestige indicators</a:t>
            </a:r>
            <a:r>
              <a:rPr lang="en-GB" sz="2800" b="1"/>
              <a:t>?</a:t>
            </a:r>
            <a:endParaRPr lang="en-GB" b="1"/>
          </a:p>
        </p:txBody>
      </p:sp>
      <p:pic>
        <p:nvPicPr>
          <p:cNvPr id="4" name="Segnaposto contenut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9837" y="1921701"/>
            <a:ext cx="7291892" cy="4614361"/>
          </a:xfrm>
        </p:spPr>
      </p:pic>
    </p:spTree>
    <p:extLst>
      <p:ext uri="{BB962C8B-B14F-4D97-AF65-F5344CB8AC3E}">
        <p14:creationId xmlns:p14="http://schemas.microsoft.com/office/powerpoint/2010/main" val="16103999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46111" y="452718"/>
            <a:ext cx="10899344" cy="1400530"/>
          </a:xfrm>
        </p:spPr>
        <p:txBody>
          <a:bodyPr/>
          <a:lstStyle/>
          <a:p>
            <a:r>
              <a:rPr lang="it-IT" b="1" smtClean="0"/>
              <a:t>RESULTS:</a:t>
            </a:r>
            <a:br>
              <a:rPr lang="it-IT" b="1" smtClean="0"/>
            </a:br>
            <a:r>
              <a:rPr lang="it-IT" sz="2800" b="1" smtClean="0"/>
              <a:t>3.4 </a:t>
            </a:r>
            <a:r>
              <a:rPr lang="en-GB" sz="2800" b="1"/>
              <a:t>Are mentions correlated with </a:t>
            </a:r>
            <a:r>
              <a:rPr lang="en-GB" sz="2800" b="1" smtClean="0"/>
              <a:t>other prestige indicators</a:t>
            </a:r>
            <a:r>
              <a:rPr lang="en-GB" sz="2800" b="1"/>
              <a:t>?</a:t>
            </a:r>
            <a:endParaRPr lang="en-GB" b="1"/>
          </a:p>
        </p:txBody>
      </p:sp>
      <p:pic>
        <p:nvPicPr>
          <p:cNvPr id="5" name="Segnaposto contenuto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61057" y="1853248"/>
            <a:ext cx="7121669" cy="4678543"/>
          </a:xfrm>
        </p:spPr>
      </p:pic>
    </p:spTree>
    <p:extLst>
      <p:ext uri="{BB962C8B-B14F-4D97-AF65-F5344CB8AC3E}">
        <p14:creationId xmlns:p14="http://schemas.microsoft.com/office/powerpoint/2010/main" val="11839259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46111" y="452718"/>
            <a:ext cx="10899344" cy="1400530"/>
          </a:xfrm>
        </p:spPr>
        <p:txBody>
          <a:bodyPr/>
          <a:lstStyle/>
          <a:p>
            <a:r>
              <a:rPr lang="it-IT" b="1" smtClean="0"/>
              <a:t>RESULTS:</a:t>
            </a:r>
            <a:br>
              <a:rPr lang="it-IT" b="1" smtClean="0"/>
            </a:br>
            <a:r>
              <a:rPr lang="it-IT" sz="2800" b="1" smtClean="0"/>
              <a:t>3.4 </a:t>
            </a:r>
            <a:r>
              <a:rPr lang="en-GB" sz="2800" b="1"/>
              <a:t>Are mentions correlated with </a:t>
            </a:r>
            <a:r>
              <a:rPr lang="en-GB" sz="2800" b="1" smtClean="0"/>
              <a:t>other prestige indicators</a:t>
            </a:r>
            <a:r>
              <a:rPr lang="en-GB" sz="2800" b="1"/>
              <a:t>?</a:t>
            </a:r>
            <a:endParaRPr lang="en-GB" b="1"/>
          </a:p>
        </p:txBody>
      </p:sp>
      <p:pic>
        <p:nvPicPr>
          <p:cNvPr id="4" name="Segnaposto contenut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95128" y="1744825"/>
            <a:ext cx="7601309" cy="4896120"/>
          </a:xfrm>
        </p:spPr>
      </p:pic>
    </p:spTree>
    <p:extLst>
      <p:ext uri="{BB962C8B-B14F-4D97-AF65-F5344CB8AC3E}">
        <p14:creationId xmlns:p14="http://schemas.microsoft.com/office/powerpoint/2010/main" val="11565029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46111" y="452718"/>
            <a:ext cx="10345162" cy="1400530"/>
          </a:xfrm>
        </p:spPr>
        <p:txBody>
          <a:bodyPr/>
          <a:lstStyle/>
          <a:p>
            <a:r>
              <a:rPr lang="it-IT" b="1" smtClean="0"/>
              <a:t>RESULTS:</a:t>
            </a:r>
            <a:br>
              <a:rPr lang="it-IT" b="1" smtClean="0"/>
            </a:br>
            <a:r>
              <a:rPr lang="it-IT" sz="2800" b="1" smtClean="0"/>
              <a:t>3.5 </a:t>
            </a:r>
            <a:r>
              <a:rPr lang="en-GB" sz="2800" b="1"/>
              <a:t>Does gender affect the chances of </a:t>
            </a:r>
            <a:r>
              <a:rPr lang="en-GB" sz="2800" b="1" smtClean="0"/>
              <a:t>accumulating </a:t>
            </a:r>
            <a:r>
              <a:rPr lang="en-GB" sz="2800" b="1"/>
              <a:t>mentions</a:t>
            </a:r>
            <a:r>
              <a:rPr lang="en-GB" sz="2800" b="1" smtClean="0"/>
              <a:t>? </a:t>
            </a:r>
            <a:r>
              <a:rPr lang="en-GB" sz="2000" b="1" smtClean="0"/>
              <a:t>(gender_tier_table)</a:t>
            </a:r>
            <a:endParaRPr lang="en-GB" b="1"/>
          </a:p>
        </p:txBody>
      </p:sp>
      <p:graphicFrame>
        <p:nvGraphicFramePr>
          <p:cNvPr id="4" name="Segnaposto contenuto 3"/>
          <p:cNvGraphicFramePr>
            <a:graphicFrameLocks noGrp="1"/>
          </p:cNvGraphicFramePr>
          <p:nvPr>
            <p:ph idx="1"/>
            <p:extLst>
              <p:ext uri="{D42A27DB-BD31-4B8C-83A1-F6EECF244321}">
                <p14:modId xmlns:p14="http://schemas.microsoft.com/office/powerpoint/2010/main" val="1763883272"/>
              </p:ext>
            </p:extLst>
          </p:nvPr>
        </p:nvGraphicFramePr>
        <p:xfrm>
          <a:off x="1488324" y="2646196"/>
          <a:ext cx="8947152" cy="2123440"/>
        </p:xfrm>
        <a:graphic>
          <a:graphicData uri="http://schemas.openxmlformats.org/drawingml/2006/table">
            <a:tbl>
              <a:tblPr firstRow="1" bandRow="1">
                <a:tableStyleId>{5C22544A-7EE6-4342-B048-85BDC9FD1C3A}</a:tableStyleId>
              </a:tblPr>
              <a:tblGrid>
                <a:gridCol w="2236788">
                  <a:extLst>
                    <a:ext uri="{9D8B030D-6E8A-4147-A177-3AD203B41FA5}">
                      <a16:colId xmlns:a16="http://schemas.microsoft.com/office/drawing/2014/main" val="370237962"/>
                    </a:ext>
                  </a:extLst>
                </a:gridCol>
                <a:gridCol w="2236788">
                  <a:extLst>
                    <a:ext uri="{9D8B030D-6E8A-4147-A177-3AD203B41FA5}">
                      <a16:colId xmlns:a16="http://schemas.microsoft.com/office/drawing/2014/main" val="2519166313"/>
                    </a:ext>
                  </a:extLst>
                </a:gridCol>
                <a:gridCol w="2236788">
                  <a:extLst>
                    <a:ext uri="{9D8B030D-6E8A-4147-A177-3AD203B41FA5}">
                      <a16:colId xmlns:a16="http://schemas.microsoft.com/office/drawing/2014/main" val="3880631371"/>
                    </a:ext>
                  </a:extLst>
                </a:gridCol>
                <a:gridCol w="2236788">
                  <a:extLst>
                    <a:ext uri="{9D8B030D-6E8A-4147-A177-3AD203B41FA5}">
                      <a16:colId xmlns:a16="http://schemas.microsoft.com/office/drawing/2014/main" val="1862634554"/>
                    </a:ext>
                  </a:extLst>
                </a:gridCol>
              </a:tblGrid>
              <a:tr h="370840">
                <a:tc>
                  <a:txBody>
                    <a:bodyPr/>
                    <a:lstStyle/>
                    <a:p>
                      <a:r>
                        <a:rPr lang="it-IT" smtClean="0"/>
                        <a:t>Tier</a:t>
                      </a:r>
                      <a:endParaRPr lang="en-GB"/>
                    </a:p>
                  </a:txBody>
                  <a:tcPr/>
                </a:tc>
                <a:tc>
                  <a:txBody>
                    <a:bodyPr/>
                    <a:lstStyle/>
                    <a:p>
                      <a:r>
                        <a:rPr lang="it-IT" smtClean="0"/>
                        <a:t>N</a:t>
                      </a:r>
                      <a:r>
                        <a:rPr lang="it-IT" baseline="0" smtClean="0"/>
                        <a:t> females</a:t>
                      </a:r>
                      <a:endParaRPr lang="en-GB"/>
                    </a:p>
                  </a:txBody>
                  <a:tcPr/>
                </a:tc>
                <a:tc>
                  <a:txBody>
                    <a:bodyPr/>
                    <a:lstStyle/>
                    <a:p>
                      <a:r>
                        <a:rPr lang="it-IT" smtClean="0"/>
                        <a:t>N males</a:t>
                      </a:r>
                      <a:endParaRPr lang="en-GB"/>
                    </a:p>
                  </a:txBody>
                  <a:tcPr/>
                </a:tc>
                <a:tc>
                  <a:txBody>
                    <a:bodyPr/>
                    <a:lstStyle/>
                    <a:p>
                      <a:r>
                        <a:rPr lang="it-IT" smtClean="0"/>
                        <a:t>Females (%)</a:t>
                      </a:r>
                      <a:endParaRPr lang="en-GB"/>
                    </a:p>
                  </a:txBody>
                  <a:tcPr/>
                </a:tc>
                <a:extLst>
                  <a:ext uri="{0D108BD9-81ED-4DB2-BD59-A6C34878D82A}">
                    <a16:rowId xmlns:a16="http://schemas.microsoft.com/office/drawing/2014/main" val="1436083376"/>
                  </a:ext>
                </a:extLst>
              </a:tr>
              <a:tr h="370840">
                <a:tc>
                  <a:txBody>
                    <a:bodyPr/>
                    <a:lstStyle/>
                    <a:p>
                      <a:r>
                        <a:rPr lang="it-IT" smtClean="0"/>
                        <a:t>Below median (0)</a:t>
                      </a:r>
                      <a:endParaRPr lang="en-GB"/>
                    </a:p>
                  </a:txBody>
                  <a:tcPr/>
                </a:tc>
                <a:tc>
                  <a:txBody>
                    <a:bodyPr/>
                    <a:lstStyle/>
                    <a:p>
                      <a:r>
                        <a:rPr lang="it-IT" smtClean="0"/>
                        <a:t>61</a:t>
                      </a:r>
                      <a:endParaRPr lang="en-GB"/>
                    </a:p>
                  </a:txBody>
                  <a:tcPr/>
                </a:tc>
                <a:tc>
                  <a:txBody>
                    <a:bodyPr/>
                    <a:lstStyle/>
                    <a:p>
                      <a:r>
                        <a:rPr lang="it-IT" smtClean="0"/>
                        <a:t>237</a:t>
                      </a:r>
                      <a:endParaRPr lang="en-GB"/>
                    </a:p>
                  </a:txBody>
                  <a:tcPr/>
                </a:tc>
                <a:tc>
                  <a:txBody>
                    <a:bodyPr/>
                    <a:lstStyle/>
                    <a:p>
                      <a:r>
                        <a:rPr lang="it-IT" smtClean="0"/>
                        <a:t>20.5</a:t>
                      </a:r>
                      <a:endParaRPr lang="en-GB"/>
                    </a:p>
                  </a:txBody>
                  <a:tcPr/>
                </a:tc>
                <a:extLst>
                  <a:ext uri="{0D108BD9-81ED-4DB2-BD59-A6C34878D82A}">
                    <a16:rowId xmlns:a16="http://schemas.microsoft.com/office/drawing/2014/main" val="1125542640"/>
                  </a:ext>
                </a:extLst>
              </a:tr>
              <a:tr h="370840">
                <a:tc>
                  <a:txBody>
                    <a:bodyPr/>
                    <a:lstStyle/>
                    <a:p>
                      <a:r>
                        <a:rPr lang="it-IT" smtClean="0"/>
                        <a:t>At</a:t>
                      </a:r>
                      <a:r>
                        <a:rPr lang="it-IT" baseline="0" smtClean="0"/>
                        <a:t> median (1)</a:t>
                      </a:r>
                      <a:endParaRPr lang="en-GB"/>
                    </a:p>
                  </a:txBody>
                  <a:tcPr/>
                </a:tc>
                <a:tc>
                  <a:txBody>
                    <a:bodyPr/>
                    <a:lstStyle/>
                    <a:p>
                      <a:r>
                        <a:rPr lang="it-IT" smtClean="0"/>
                        <a:t>751</a:t>
                      </a:r>
                      <a:endParaRPr lang="en-GB"/>
                    </a:p>
                  </a:txBody>
                  <a:tcPr/>
                </a:tc>
                <a:tc>
                  <a:txBody>
                    <a:bodyPr/>
                    <a:lstStyle/>
                    <a:p>
                      <a:r>
                        <a:rPr lang="it-IT" smtClean="0"/>
                        <a:t>2472</a:t>
                      </a:r>
                      <a:endParaRPr lang="en-GB"/>
                    </a:p>
                  </a:txBody>
                  <a:tcPr/>
                </a:tc>
                <a:tc>
                  <a:txBody>
                    <a:bodyPr/>
                    <a:lstStyle/>
                    <a:p>
                      <a:r>
                        <a:rPr lang="it-IT" smtClean="0"/>
                        <a:t>23.3</a:t>
                      </a:r>
                      <a:endParaRPr lang="en-GB"/>
                    </a:p>
                  </a:txBody>
                  <a:tcPr/>
                </a:tc>
                <a:extLst>
                  <a:ext uri="{0D108BD9-81ED-4DB2-BD59-A6C34878D82A}">
                    <a16:rowId xmlns:a16="http://schemas.microsoft.com/office/drawing/2014/main" val="327758379"/>
                  </a:ext>
                </a:extLst>
              </a:tr>
              <a:tr h="370840">
                <a:tc>
                  <a:txBody>
                    <a:bodyPr/>
                    <a:lstStyle/>
                    <a:p>
                      <a:r>
                        <a:rPr lang="it-IT" smtClean="0"/>
                        <a:t>Above median </a:t>
                      </a:r>
                    </a:p>
                    <a:p>
                      <a:r>
                        <a:rPr lang="it-IT" smtClean="0"/>
                        <a:t>(2-5)</a:t>
                      </a:r>
                      <a:endParaRPr lang="en-GB"/>
                    </a:p>
                  </a:txBody>
                  <a:tcPr/>
                </a:tc>
                <a:tc>
                  <a:txBody>
                    <a:bodyPr/>
                    <a:lstStyle/>
                    <a:p>
                      <a:r>
                        <a:rPr lang="it-IT" smtClean="0"/>
                        <a:t>352</a:t>
                      </a:r>
                      <a:endParaRPr lang="en-GB"/>
                    </a:p>
                  </a:txBody>
                  <a:tcPr/>
                </a:tc>
                <a:tc>
                  <a:txBody>
                    <a:bodyPr/>
                    <a:lstStyle/>
                    <a:p>
                      <a:r>
                        <a:rPr lang="it-IT" smtClean="0"/>
                        <a:t>1305</a:t>
                      </a:r>
                      <a:endParaRPr lang="en-GB"/>
                    </a:p>
                  </a:txBody>
                  <a:tcPr/>
                </a:tc>
                <a:tc>
                  <a:txBody>
                    <a:bodyPr/>
                    <a:lstStyle/>
                    <a:p>
                      <a:r>
                        <a:rPr lang="it-IT" smtClean="0"/>
                        <a:t>21.2</a:t>
                      </a:r>
                      <a:endParaRPr lang="en-GB"/>
                    </a:p>
                  </a:txBody>
                  <a:tcPr/>
                </a:tc>
                <a:extLst>
                  <a:ext uri="{0D108BD9-81ED-4DB2-BD59-A6C34878D82A}">
                    <a16:rowId xmlns:a16="http://schemas.microsoft.com/office/drawing/2014/main" val="2380037167"/>
                  </a:ext>
                </a:extLst>
              </a:tr>
              <a:tr h="370840">
                <a:tc>
                  <a:txBody>
                    <a:bodyPr/>
                    <a:lstStyle/>
                    <a:p>
                      <a:r>
                        <a:rPr lang="it-IT" smtClean="0"/>
                        <a:t>Top 10% (6+)</a:t>
                      </a:r>
                      <a:endParaRPr lang="en-GB"/>
                    </a:p>
                  </a:txBody>
                  <a:tcPr/>
                </a:tc>
                <a:tc>
                  <a:txBody>
                    <a:bodyPr/>
                    <a:lstStyle/>
                    <a:p>
                      <a:r>
                        <a:rPr lang="it-IT" smtClean="0"/>
                        <a:t>113</a:t>
                      </a:r>
                      <a:endParaRPr lang="en-GB"/>
                    </a:p>
                  </a:txBody>
                  <a:tcPr/>
                </a:tc>
                <a:tc>
                  <a:txBody>
                    <a:bodyPr/>
                    <a:lstStyle/>
                    <a:p>
                      <a:r>
                        <a:rPr lang="it-IT" smtClean="0"/>
                        <a:t>559</a:t>
                      </a:r>
                      <a:endParaRPr lang="en-GB"/>
                    </a:p>
                  </a:txBody>
                  <a:tcPr/>
                </a:tc>
                <a:tc>
                  <a:txBody>
                    <a:bodyPr/>
                    <a:lstStyle/>
                    <a:p>
                      <a:r>
                        <a:rPr lang="it-IT" smtClean="0"/>
                        <a:t>16.8</a:t>
                      </a:r>
                      <a:endParaRPr lang="en-GB"/>
                    </a:p>
                  </a:txBody>
                  <a:tcPr/>
                </a:tc>
                <a:extLst>
                  <a:ext uri="{0D108BD9-81ED-4DB2-BD59-A6C34878D82A}">
                    <a16:rowId xmlns:a16="http://schemas.microsoft.com/office/drawing/2014/main" val="2638114290"/>
                  </a:ext>
                </a:extLst>
              </a:tr>
            </a:tbl>
          </a:graphicData>
        </a:graphic>
      </p:graphicFrame>
    </p:spTree>
    <p:extLst>
      <p:ext uri="{BB962C8B-B14F-4D97-AF65-F5344CB8AC3E}">
        <p14:creationId xmlns:p14="http://schemas.microsoft.com/office/powerpoint/2010/main" val="245853468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smtClean="0"/>
              <a:t>CONCLUSIONS:</a:t>
            </a:r>
            <a:br>
              <a:rPr lang="it-IT" b="1" smtClean="0"/>
            </a:br>
            <a:r>
              <a:rPr lang="it-IT" b="1" smtClean="0"/>
              <a:t>1) Production</a:t>
            </a:r>
            <a:endParaRPr lang="en-GB" b="1"/>
          </a:p>
        </p:txBody>
      </p:sp>
      <p:sp>
        <p:nvSpPr>
          <p:cNvPr id="3" name="Segnaposto contenuto 2"/>
          <p:cNvSpPr>
            <a:spLocks noGrp="1"/>
          </p:cNvSpPr>
          <p:nvPr>
            <p:ph idx="1"/>
          </p:nvPr>
        </p:nvSpPr>
        <p:spPr/>
        <p:txBody>
          <a:bodyPr/>
          <a:lstStyle/>
          <a:p>
            <a:r>
              <a:rPr lang="en-GB" smtClean="0"/>
              <a:t>Top </a:t>
            </a:r>
            <a:r>
              <a:rPr lang="en-GB"/>
              <a:t>philosophers cluster around 7–10 articles, with frequent </a:t>
            </a:r>
            <a:r>
              <a:rPr lang="en-GB" smtClean="0"/>
              <a:t>ties.</a:t>
            </a:r>
          </a:p>
          <a:p>
            <a:endParaRPr lang="it-IT"/>
          </a:p>
          <a:p>
            <a:r>
              <a:rPr lang="en-GB" smtClean="0"/>
              <a:t>Few elite </a:t>
            </a:r>
            <a:r>
              <a:rPr lang="en-GB"/>
              <a:t>institutions (MIT, NYU, Oxford) dominate the top of the </a:t>
            </a:r>
            <a:r>
              <a:rPr lang="en-GB" smtClean="0"/>
              <a:t>ranking.</a:t>
            </a:r>
          </a:p>
          <a:p>
            <a:endParaRPr lang="it-IT"/>
          </a:p>
          <a:p>
            <a:r>
              <a:rPr lang="en-GB"/>
              <a:t>Institutional productivity is heavily concentrated in the US and </a:t>
            </a:r>
            <a:r>
              <a:rPr lang="en-GB" smtClean="0"/>
              <a:t>UK, reflecting the geographic connotation of analytic philosophy.</a:t>
            </a:r>
            <a:endParaRPr lang="en-GB"/>
          </a:p>
        </p:txBody>
      </p:sp>
    </p:spTree>
    <p:extLst>
      <p:ext uri="{BB962C8B-B14F-4D97-AF65-F5344CB8AC3E}">
        <p14:creationId xmlns:p14="http://schemas.microsoft.com/office/powerpoint/2010/main" val="14810195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smtClean="0"/>
              <a:t>CONCLUSIONS:</a:t>
            </a:r>
            <a:br>
              <a:rPr lang="it-IT" b="1" smtClean="0"/>
            </a:br>
            <a:r>
              <a:rPr lang="it-IT" b="1" smtClean="0"/>
              <a:t>2) Informal collaboration</a:t>
            </a:r>
            <a:endParaRPr lang="en-GB" b="1"/>
          </a:p>
        </p:txBody>
      </p:sp>
      <p:sp>
        <p:nvSpPr>
          <p:cNvPr id="3" name="Segnaposto contenuto 2"/>
          <p:cNvSpPr>
            <a:spLocks noGrp="1"/>
          </p:cNvSpPr>
          <p:nvPr>
            <p:ph idx="1"/>
          </p:nvPr>
        </p:nvSpPr>
        <p:spPr/>
        <p:txBody>
          <a:bodyPr/>
          <a:lstStyle/>
          <a:p>
            <a:r>
              <a:rPr lang="en-GB"/>
              <a:t>Nearly universal: </a:t>
            </a:r>
            <a:r>
              <a:rPr lang="en-GB" smtClean="0"/>
              <a:t>94.7% of </a:t>
            </a:r>
            <a:r>
              <a:rPr lang="en-GB"/>
              <a:t>articles and </a:t>
            </a:r>
            <a:r>
              <a:rPr lang="en-GB" smtClean="0"/>
              <a:t>96% </a:t>
            </a:r>
            <a:r>
              <a:rPr lang="en-GB"/>
              <a:t>of philosophers show at least one informal </a:t>
            </a:r>
            <a:r>
              <a:rPr lang="en-GB" smtClean="0"/>
              <a:t>collaborator. </a:t>
            </a:r>
          </a:p>
          <a:p>
            <a:endParaRPr lang="it-IT"/>
          </a:p>
          <a:p>
            <a:r>
              <a:rPr lang="en-GB" smtClean="0"/>
              <a:t>Typical </a:t>
            </a:r>
            <a:r>
              <a:rPr lang="en-GB"/>
              <a:t>article/philosopher mentions </a:t>
            </a:r>
            <a:r>
              <a:rPr lang="en-GB" smtClean="0"/>
              <a:t>7–8 collaborators.</a:t>
            </a:r>
          </a:p>
          <a:p>
            <a:endParaRPr lang="it-IT"/>
          </a:p>
          <a:p>
            <a:r>
              <a:rPr lang="en-GB"/>
              <a:t>Distribution is </a:t>
            </a:r>
            <a:r>
              <a:rPr lang="en-GB" smtClean="0"/>
              <a:t>right-skewed, meaning that a </a:t>
            </a:r>
            <a:r>
              <a:rPr lang="en-GB"/>
              <a:t>small group of </a:t>
            </a:r>
            <a:r>
              <a:rPr lang="en-GB" smtClean="0"/>
              <a:t>articles/individuals pulls </a:t>
            </a:r>
            <a:r>
              <a:rPr lang="en-GB"/>
              <a:t>the average </a:t>
            </a:r>
            <a:r>
              <a:rPr lang="en-GB" smtClean="0"/>
              <a:t>up.</a:t>
            </a:r>
          </a:p>
          <a:p>
            <a:endParaRPr lang="it-IT"/>
          </a:p>
          <a:p>
            <a:endParaRPr lang="en-GB"/>
          </a:p>
        </p:txBody>
      </p:sp>
    </p:spTree>
    <p:extLst>
      <p:ext uri="{BB962C8B-B14F-4D97-AF65-F5344CB8AC3E}">
        <p14:creationId xmlns:p14="http://schemas.microsoft.com/office/powerpoint/2010/main" val="78115956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45130" y="480427"/>
            <a:ext cx="9404723" cy="1400530"/>
          </a:xfrm>
        </p:spPr>
        <p:txBody>
          <a:bodyPr/>
          <a:lstStyle/>
          <a:p>
            <a:r>
              <a:rPr lang="it-IT" b="1" smtClean="0"/>
              <a:t>CONCLUSIONS:</a:t>
            </a:r>
            <a:br>
              <a:rPr lang="it-IT" b="1" smtClean="0"/>
            </a:br>
            <a:r>
              <a:rPr lang="it-IT" b="1" smtClean="0"/>
              <a:t>3) Prestige</a:t>
            </a:r>
            <a:endParaRPr lang="en-GB" b="1"/>
          </a:p>
        </p:txBody>
      </p:sp>
      <p:sp>
        <p:nvSpPr>
          <p:cNvPr id="3" name="Segnaposto contenuto 2"/>
          <p:cNvSpPr>
            <a:spLocks noGrp="1"/>
          </p:cNvSpPr>
          <p:nvPr>
            <p:ph idx="1"/>
          </p:nvPr>
        </p:nvSpPr>
        <p:spPr/>
        <p:txBody>
          <a:bodyPr/>
          <a:lstStyle/>
          <a:p>
            <a:r>
              <a:rPr lang="en-GB"/>
              <a:t>Mentions are highly concentrated: one philosopher (Chalmers) </a:t>
            </a:r>
            <a:r>
              <a:rPr lang="en-GB" smtClean="0"/>
              <a:t>dominates, whereas </a:t>
            </a:r>
            <a:r>
              <a:rPr lang="en-GB"/>
              <a:t>most receive 0–1 </a:t>
            </a:r>
            <a:r>
              <a:rPr lang="en-GB" smtClean="0"/>
              <a:t>mentions.</a:t>
            </a:r>
          </a:p>
          <a:p>
            <a:endParaRPr lang="en-GB" smtClean="0"/>
          </a:p>
          <a:p>
            <a:r>
              <a:rPr lang="en-GB" smtClean="0"/>
              <a:t>Only </a:t>
            </a:r>
            <a:r>
              <a:rPr lang="en-GB"/>
              <a:t>weak-to-moderate </a:t>
            </a:r>
            <a:r>
              <a:rPr lang="en-GB" smtClean="0"/>
              <a:t>correlations between mentions and indicators of prestige, </a:t>
            </a:r>
            <a:r>
              <a:rPr lang="en-GB"/>
              <a:t>explaining at most about a fifth of the variation in </a:t>
            </a:r>
            <a:r>
              <a:rPr lang="en-GB" smtClean="0"/>
              <a:t>mentions (using authored articles as independent variable).</a:t>
            </a:r>
          </a:p>
          <a:p>
            <a:endParaRPr lang="it-IT"/>
          </a:p>
          <a:p>
            <a:r>
              <a:rPr lang="en-GB" smtClean="0"/>
              <a:t>Gender gap is not uniform; it is concentrated at the top.</a:t>
            </a:r>
            <a:endParaRPr lang="en-GB"/>
          </a:p>
          <a:p>
            <a:endParaRPr lang="it-IT"/>
          </a:p>
          <a:p>
            <a:endParaRPr lang="en-GB" smtClean="0"/>
          </a:p>
          <a:p>
            <a:endParaRPr lang="it-IT"/>
          </a:p>
          <a:p>
            <a:endParaRPr lang="en-GB" smtClean="0"/>
          </a:p>
          <a:p>
            <a:endParaRPr lang="en-GB"/>
          </a:p>
        </p:txBody>
      </p:sp>
    </p:spTree>
    <p:extLst>
      <p:ext uri="{BB962C8B-B14F-4D97-AF65-F5344CB8AC3E}">
        <p14:creationId xmlns:p14="http://schemas.microsoft.com/office/powerpoint/2010/main" val="25928165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e">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2609</TotalTime>
  <Words>1473</Words>
  <Application>Microsoft Office PowerPoint</Application>
  <PresentationFormat>Widescreen</PresentationFormat>
  <Paragraphs>247</Paragraphs>
  <Slides>30</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30</vt:i4>
      </vt:variant>
    </vt:vector>
  </HeadingPairs>
  <TitlesOfParts>
    <vt:vector size="34" baseType="lpstr">
      <vt:lpstr>Arial</vt:lpstr>
      <vt:lpstr>Century Gothic</vt:lpstr>
      <vt:lpstr>Wingdings 3</vt:lpstr>
      <vt:lpstr>Ione</vt:lpstr>
      <vt:lpstr>The Sociology of Contemporary Analytic Philosophy</vt:lpstr>
      <vt:lpstr>INTRODUCTION</vt:lpstr>
      <vt:lpstr>INTRODUCTION</vt:lpstr>
      <vt:lpstr>INTRODUCTION</vt:lpstr>
      <vt:lpstr>METHODOLOGY: 1. Production in Analytic Philosophy</vt:lpstr>
      <vt:lpstr>METHODOLOGY: 1. Production in Analytic Philosophy</vt:lpstr>
      <vt:lpstr>METHODOLOGY: 2. Informal Collaboration</vt:lpstr>
      <vt:lpstr>METHODOLOGY: 2. Informal Collaboration</vt:lpstr>
      <vt:lpstr>METHODOLOGY: 3. Prestige</vt:lpstr>
      <vt:lpstr>METHODOLOGY: 3. Prestige</vt:lpstr>
      <vt:lpstr>METHODOLOGY: 3. Prestige</vt:lpstr>
      <vt:lpstr>METHODOLOGY: 3. Prestige</vt:lpstr>
      <vt:lpstr>METHODOLOGY: 3. Prestige</vt:lpstr>
      <vt:lpstr>RESULTS: 1.1 Most productive philosophers</vt:lpstr>
      <vt:lpstr>RESULTS: 1.1 Most productive philosophers (top_philosophers)</vt:lpstr>
      <vt:lpstr>RESULTS: 1.2 Most productive institutions and their geography </vt:lpstr>
      <vt:lpstr>RESULTS: 1.2 Most productive institutions and their geography (top_istitutions) </vt:lpstr>
      <vt:lpstr>RESULTS: 2.1 How many informal collaborators does the average analytic philosopher mention?</vt:lpstr>
      <vt:lpstr>RESULTS:  2.2 Is informal collaboration common in analytic philosophy?</vt:lpstr>
      <vt:lpstr>RESULTS:  3.1 Who are the most mentioned philosophers?</vt:lpstr>
      <vt:lpstr>RESULTS:  3.1 Who are the most mentioned philosophers? (top_mentioned_phil)</vt:lpstr>
      <vt:lpstr>RESULTS: 3.2 Who are the most mentioned within each sub-area?</vt:lpstr>
      <vt:lpstr>RESULTS: 3.3 How are mentions distributed among the community?</vt:lpstr>
      <vt:lpstr>RESULTS: 3.4 Are mentions correlated with other prestige indicators?</vt:lpstr>
      <vt:lpstr>RESULTS: 3.4 Are mentions correlated with other prestige indicators?</vt:lpstr>
      <vt:lpstr>RESULTS: 3.4 Are mentions correlated with other prestige indicators?</vt:lpstr>
      <vt:lpstr>RESULTS: 3.5 Does gender affect the chances of accumulating mentions? (gender_tier_table)</vt:lpstr>
      <vt:lpstr>CONCLUSIONS: 1) Production</vt:lpstr>
      <vt:lpstr>CONCLUSIONS: 2) Informal collaboration</vt:lpstr>
      <vt:lpstr>CONCLUSIONS: 3) Prestige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Sociology of Contemporary Analytic Philosophy</dc:title>
  <dc:creator>Paolo</dc:creator>
  <cp:lastModifiedBy>Paolo</cp:lastModifiedBy>
  <cp:revision>64</cp:revision>
  <dcterms:created xsi:type="dcterms:W3CDTF">2026-07-11T20:02:05Z</dcterms:created>
  <dcterms:modified xsi:type="dcterms:W3CDTF">2026-07-31T11:54:29Z</dcterms:modified>
</cp:coreProperties>
</file>